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embeddedFontLst>
    <p:embeddedFont>
      <p:font typeface="Alimama ShuHeiTi" charset="-122" pitchFamily="34"/>
      <p:regular r:id="rId23"/>
    </p:embeddedFont>
    <p:embeddedFont>
      <p:font typeface="MiSans" charset="-122" pitchFamily="34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font" Target="fonts/font1.fntdata"/><Relationship Id="rId2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70196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273232" y="1447800"/>
            <a:ext cx="3648075" cy="552450"/>
          </a:xfrm>
          <a:prstGeom prst="roundRect">
            <a:avLst>
              <a:gd name="adj" fmla="val 50000"/>
            </a:avLst>
          </a:prstGeom>
          <a:solidFill>
            <a:srgbClr val="38A3A5">
              <a:alpha val="20000"/>
            </a:srgbClr>
          </a:solidFill>
          <a:ln w="25400">
            <a:solidFill>
              <a:srgbClr val="38A3A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30407" y="1607344"/>
            <a:ext cx="3131026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spc="180" kern="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VIDING METHODOLOGY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425541" y="2390775"/>
            <a:ext cx="7343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72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我的 viding 飞轮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333841" y="3838575"/>
            <a:ext cx="1524000" cy="5715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8" name="Text 5"/>
          <p:cNvSpPr/>
          <p:nvPr/>
        </p:nvSpPr>
        <p:spPr>
          <a:xfrm>
            <a:off x="2582704" y="4200525"/>
            <a:ext cx="70294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一套完整的项目开发方法论体系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743166" y="51720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" name="Text 7"/>
          <p:cNvSpPr/>
          <p:nvPr/>
        </p:nvSpPr>
        <p:spPr>
          <a:xfrm>
            <a:off x="4095591" y="5153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规范驱动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543391" y="5172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52966" y="4197"/>
                </a:moveTo>
                <a:cubicBezTo>
                  <a:pt x="147384" y="-1384"/>
                  <a:pt x="138321" y="-1384"/>
                  <a:pt x="132740" y="4197"/>
                </a:cubicBezTo>
                <a:cubicBezTo>
                  <a:pt x="127159" y="9778"/>
                  <a:pt x="127159" y="18842"/>
                  <a:pt x="132740" y="24423"/>
                </a:cubicBezTo>
                <a:lnTo>
                  <a:pt x="136937" y="28575"/>
                </a:lnTo>
                <a:lnTo>
                  <a:pt x="12546" y="152966"/>
                </a:lnTo>
                <a:cubicBezTo>
                  <a:pt x="4509" y="161002"/>
                  <a:pt x="0" y="171896"/>
                  <a:pt x="0" y="183282"/>
                </a:cubicBezTo>
                <a:lnTo>
                  <a:pt x="0" y="185738"/>
                </a:lnTo>
                <a:cubicBezTo>
                  <a:pt x="0" y="209401"/>
                  <a:pt x="19199" y="228600"/>
                  <a:pt x="42863" y="228600"/>
                </a:cubicBezTo>
                <a:lnTo>
                  <a:pt x="45318" y="228600"/>
                </a:lnTo>
                <a:cubicBezTo>
                  <a:pt x="56704" y="228600"/>
                  <a:pt x="67598" y="224091"/>
                  <a:pt x="75634" y="216054"/>
                </a:cubicBezTo>
                <a:lnTo>
                  <a:pt x="200025" y="91663"/>
                </a:lnTo>
                <a:lnTo>
                  <a:pt x="204222" y="95860"/>
                </a:lnTo>
                <a:cubicBezTo>
                  <a:pt x="209803" y="101441"/>
                  <a:pt x="218867" y="101441"/>
                  <a:pt x="224448" y="95860"/>
                </a:cubicBezTo>
                <a:cubicBezTo>
                  <a:pt x="230029" y="90279"/>
                  <a:pt x="230029" y="81216"/>
                  <a:pt x="224448" y="75634"/>
                </a:cubicBezTo>
                <a:lnTo>
                  <a:pt x="153010" y="4197"/>
                </a:lnTo>
                <a:close/>
                <a:moveTo>
                  <a:pt x="91663" y="114300"/>
                </a:moveTo>
                <a:lnTo>
                  <a:pt x="157163" y="48801"/>
                </a:lnTo>
                <a:lnTo>
                  <a:pt x="179799" y="71438"/>
                </a:lnTo>
                <a:lnTo>
                  <a:pt x="136937" y="114300"/>
                </a:lnTo>
                <a:lnTo>
                  <a:pt x="91619" y="11430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2" name="Text 9"/>
          <p:cNvSpPr/>
          <p:nvPr/>
        </p:nvSpPr>
        <p:spPr>
          <a:xfrm>
            <a:off x="5867241" y="5153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测试保障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315041" y="51720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4" name="Text 11"/>
          <p:cNvSpPr/>
          <p:nvPr/>
        </p:nvSpPr>
        <p:spPr>
          <a:xfrm>
            <a:off x="7638891" y="51530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数据验证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38A3A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CONTENTS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目录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762000" cy="381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400050" y="160020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562100"/>
                </a:lnTo>
                <a:cubicBezTo>
                  <a:pt x="5581650" y="1604156"/>
                  <a:pt x="5547506" y="1638300"/>
                  <a:pt x="5505450" y="1638300"/>
                </a:cubicBez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22577A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00050" y="1600200"/>
            <a:ext cx="38100" cy="16383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7" name="Shape 5"/>
          <p:cNvSpPr/>
          <p:nvPr/>
        </p:nvSpPr>
        <p:spPr>
          <a:xfrm>
            <a:off x="647700" y="18288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8" name="Text 6"/>
          <p:cNvSpPr/>
          <p:nvPr/>
        </p:nvSpPr>
        <p:spPr>
          <a:xfrm>
            <a:off x="590550" y="1828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33500" y="18288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从零开始一个项目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33500" y="2247900"/>
            <a:ext cx="44958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写好 agents.md，设置基础架构与框架，让规范成为系统的唯一真相源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9350" y="1600200"/>
            <a:ext cx="5581650" cy="1638300"/>
          </a:xfrm>
          <a:custGeom>
            <a:avLst/>
            <a:gdLst/>
            <a:ahLst/>
            <a:cxnLst/>
            <a:rect l="l" t="t" r="r" b="b"/>
            <a:pathLst>
              <a:path w="5581650" h="163830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562100"/>
                </a:lnTo>
                <a:cubicBezTo>
                  <a:pt x="5581650" y="1604156"/>
                  <a:pt x="5547506" y="1638300"/>
                  <a:pt x="5505450" y="1638300"/>
                </a:cubicBezTo>
                <a:lnTo>
                  <a:pt x="0" y="1638300"/>
                </a:lnTo>
                <a:lnTo>
                  <a:pt x="0" y="0"/>
                </a:lnTo>
                <a:close/>
              </a:path>
            </a:pathLst>
          </a:custGeom>
          <a:solidFill>
            <a:srgbClr val="22577A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229350" y="1600200"/>
            <a:ext cx="38100" cy="163830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13" name="Shape 11"/>
          <p:cNvSpPr/>
          <p:nvPr/>
        </p:nvSpPr>
        <p:spPr>
          <a:xfrm>
            <a:off x="6477000" y="18288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850" y="18288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62800" y="18288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测试与效率飞轮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62800" y="22479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TDD × SDD 双轮驱动，多层次测试策略，CI 流水线效率优化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00050" y="3467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314450"/>
                </a:lnTo>
                <a:cubicBezTo>
                  <a:pt x="5581650" y="1356506"/>
                  <a:pt x="5547506" y="1390650"/>
                  <a:pt x="5505450" y="1390650"/>
                </a:cubicBez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22577A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00050" y="3467100"/>
            <a:ext cx="38100" cy="139065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700" y="36957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20" name="Text 18"/>
          <p:cNvSpPr/>
          <p:nvPr/>
        </p:nvSpPr>
        <p:spPr>
          <a:xfrm>
            <a:off x="590550" y="36957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33500" y="36957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工程飞轮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333500" y="41148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代码风格与 Linter，结构化工程设计，面向测试的代码，需求管理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29350" y="3467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05450" y="0"/>
                </a:lnTo>
                <a:cubicBezTo>
                  <a:pt x="5547506" y="0"/>
                  <a:pt x="5581650" y="34144"/>
                  <a:pt x="5581650" y="76200"/>
                </a:cubicBezTo>
                <a:lnTo>
                  <a:pt x="5581650" y="1314450"/>
                </a:lnTo>
                <a:cubicBezTo>
                  <a:pt x="5581650" y="1356506"/>
                  <a:pt x="5547506" y="1390650"/>
                  <a:pt x="5505450" y="1390650"/>
                </a:cubicBez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22577A">
              <a:alpha val="2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6229350" y="3467100"/>
            <a:ext cx="38100" cy="139065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77000" y="36957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850" y="369570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162800" y="3695700"/>
            <a:ext cx="4533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记忆飞轮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62800" y="4114800"/>
            <a:ext cx="44958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沟通成本 &gt; 编写成本，文档即记忆，知识沉淀与上下文管理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086350"/>
            <a:ext cx="11410950" cy="1390650"/>
          </a:xfrm>
          <a:custGeom>
            <a:avLst/>
            <a:gdLst/>
            <a:ahLst/>
            <a:cxnLst/>
            <a:rect l="l" t="t" r="r" b="b"/>
            <a:pathLst>
              <a:path w="11410950" h="1390650">
                <a:moveTo>
                  <a:pt x="0" y="0"/>
                </a:moveTo>
                <a:lnTo>
                  <a:pt x="11334750" y="0"/>
                </a:lnTo>
                <a:cubicBezTo>
                  <a:pt x="11376806" y="0"/>
                  <a:pt x="11410950" y="34144"/>
                  <a:pt x="11410950" y="76200"/>
                </a:cubicBezTo>
                <a:lnTo>
                  <a:pt x="11410950" y="1314450"/>
                </a:lnTo>
                <a:cubicBezTo>
                  <a:pt x="11410950" y="1356506"/>
                  <a:pt x="11376806" y="1390650"/>
                  <a:pt x="11334750" y="1390650"/>
                </a:cubicBez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22577A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00050" y="5086350"/>
            <a:ext cx="38100" cy="139065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7700" y="53149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32" name="Text 30"/>
          <p:cNvSpPr/>
          <p:nvPr/>
        </p:nvSpPr>
        <p:spPr>
          <a:xfrm>
            <a:off x="590550" y="5314950"/>
            <a:ext cx="6477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33500" y="5314950"/>
            <a:ext cx="1036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可观测性飞轮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333500" y="5734050"/>
            <a:ext cx="103251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用数据证明飞轮有效，可观测性三大支柱，工程效能度量与飞轮验证框架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1000" y="1676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16764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114550"/>
            <a:ext cx="10287000" cy="381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8956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从零开始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一个项目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838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项目启动的艺术：规范先行，架构为基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38A3A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PROJECT INITIATION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写好 agents.md：项目的宪法文件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52563"/>
            <a:ext cx="5591175" cy="1876425"/>
          </a:xfrm>
          <a:prstGeom prst="roundRect">
            <a:avLst>
              <a:gd name="adj" fmla="val 4061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8175" y="16859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68848" y="131981"/>
                </a:moveTo>
                <a:cubicBezTo>
                  <a:pt x="72688" y="127471"/>
                  <a:pt x="72197" y="120729"/>
                  <a:pt x="67687" y="116890"/>
                </a:cubicBezTo>
                <a:cubicBezTo>
                  <a:pt x="63178" y="113050"/>
                  <a:pt x="56436" y="113541"/>
                  <a:pt x="52596" y="118050"/>
                </a:cubicBezTo>
                <a:lnTo>
                  <a:pt x="31165" y="143054"/>
                </a:lnTo>
                <a:cubicBezTo>
                  <a:pt x="27727" y="147072"/>
                  <a:pt x="27727" y="152966"/>
                  <a:pt x="31165" y="156984"/>
                </a:cubicBezTo>
                <a:lnTo>
                  <a:pt x="52596" y="181987"/>
                </a:lnTo>
                <a:cubicBezTo>
                  <a:pt x="56436" y="186497"/>
                  <a:pt x="63222" y="186988"/>
                  <a:pt x="67687" y="183148"/>
                </a:cubicBezTo>
                <a:cubicBezTo>
                  <a:pt x="72152" y="179308"/>
                  <a:pt x="72688" y="172522"/>
                  <a:pt x="68848" y="168057"/>
                </a:cubicBezTo>
                <a:lnTo>
                  <a:pt x="53400" y="150019"/>
                </a:lnTo>
                <a:lnTo>
                  <a:pt x="68848" y="131981"/>
                </a:lnTo>
                <a:close/>
                <a:moveTo>
                  <a:pt x="118854" y="118050"/>
                </a:moveTo>
                <a:cubicBezTo>
                  <a:pt x="115014" y="113541"/>
                  <a:pt x="108228" y="113050"/>
                  <a:pt x="103763" y="116890"/>
                </a:cubicBezTo>
                <a:cubicBezTo>
                  <a:pt x="99298" y="120729"/>
                  <a:pt x="98762" y="127516"/>
                  <a:pt x="102602" y="131981"/>
                </a:cubicBezTo>
                <a:lnTo>
                  <a:pt x="118050" y="150019"/>
                </a:lnTo>
                <a:lnTo>
                  <a:pt x="102602" y="168057"/>
                </a:lnTo>
                <a:cubicBezTo>
                  <a:pt x="98762" y="172566"/>
                  <a:pt x="99253" y="179308"/>
                  <a:pt x="103763" y="183148"/>
                </a:cubicBezTo>
                <a:cubicBezTo>
                  <a:pt x="108272" y="186988"/>
                  <a:pt x="115014" y="186497"/>
                  <a:pt x="118854" y="181987"/>
                </a:cubicBezTo>
                <a:lnTo>
                  <a:pt x="140285" y="156984"/>
                </a:lnTo>
                <a:cubicBezTo>
                  <a:pt x="143723" y="152966"/>
                  <a:pt x="143723" y="147072"/>
                  <a:pt x="140285" y="143054"/>
                </a:cubicBezTo>
                <a:lnTo>
                  <a:pt x="118854" y="11805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981075" y="1647825"/>
            <a:ext cx="24860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为什么需要 agents.md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1025" y="210502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规范驱动开发（SDD）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的核心理念：让规范成为系统的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唯一真相源（Single Source of Truth）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，驱动设计、实现、测试与部署。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0075" y="2714625"/>
            <a:ext cx="5181600" cy="419100"/>
          </a:xfrm>
          <a:custGeom>
            <a:avLst/>
            <a:gdLst/>
            <a:ahLst/>
            <a:cxnLst/>
            <a:rect l="l" t="t" r="r" b="b"/>
            <a:pathLst>
              <a:path w="5181600" h="419100">
                <a:moveTo>
                  <a:pt x="38100" y="0"/>
                </a:moveTo>
                <a:lnTo>
                  <a:pt x="5143500" y="0"/>
                </a:lnTo>
                <a:cubicBezTo>
                  <a:pt x="5164528" y="0"/>
                  <a:pt x="5181600" y="17072"/>
                  <a:pt x="5181600" y="38100"/>
                </a:cubicBezTo>
                <a:lnTo>
                  <a:pt x="5181600" y="381000"/>
                </a:lnTo>
                <a:cubicBezTo>
                  <a:pt x="5181600" y="402028"/>
                  <a:pt x="5164528" y="419100"/>
                  <a:pt x="5143500" y="419100"/>
                </a:cubicBez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10" name="Shape 8"/>
          <p:cNvSpPr/>
          <p:nvPr/>
        </p:nvSpPr>
        <p:spPr>
          <a:xfrm>
            <a:off x="600075" y="2714625"/>
            <a:ext cx="38100" cy="419100"/>
          </a:xfrm>
          <a:custGeom>
            <a:avLst/>
            <a:gdLst/>
            <a:ahLst/>
            <a:cxnLst/>
            <a:rect l="l" t="t" r="r" b="b"/>
            <a:pathLst>
              <a:path w="38100" h="419100">
                <a:moveTo>
                  <a:pt x="38100" y="0"/>
                </a:moveTo>
                <a:lnTo>
                  <a:pt x="38100" y="0"/>
                </a:lnTo>
                <a:lnTo>
                  <a:pt x="38100" y="419100"/>
                </a:lnTo>
                <a:lnTo>
                  <a:pt x="38100" y="419100"/>
                </a:lnTo>
                <a:cubicBezTo>
                  <a:pt x="17072" y="419100"/>
                  <a:pt x="0" y="402028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11" name="Text 9"/>
          <p:cNvSpPr/>
          <p:nvPr/>
        </p:nvSpPr>
        <p:spPr>
          <a:xfrm>
            <a:off x="733425" y="2828925"/>
            <a:ext cx="5000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"在动手写代码之前，让规范成为系统的唯一真相。"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5763" y="3529013"/>
            <a:ext cx="5591175" cy="1990725"/>
          </a:xfrm>
          <a:prstGeom prst="roundRect">
            <a:avLst>
              <a:gd name="adj" fmla="val 3828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600" y="37623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9740" y="16207"/>
                </a:moveTo>
                <a:cubicBezTo>
                  <a:pt x="64606" y="19601"/>
                  <a:pt x="65767" y="26298"/>
                  <a:pt x="62374" y="31120"/>
                </a:cubicBezTo>
                <a:lnTo>
                  <a:pt x="37371" y="66839"/>
                </a:lnTo>
                <a:cubicBezTo>
                  <a:pt x="35540" y="69428"/>
                  <a:pt x="32683" y="71080"/>
                  <a:pt x="29513" y="71348"/>
                </a:cubicBezTo>
                <a:cubicBezTo>
                  <a:pt x="26343" y="71616"/>
                  <a:pt x="23217" y="70545"/>
                  <a:pt x="20985" y="68312"/>
                </a:cubicBezTo>
                <a:lnTo>
                  <a:pt x="3125" y="50453"/>
                </a:lnTo>
                <a:cubicBezTo>
                  <a:pt x="-1027" y="46256"/>
                  <a:pt x="-1027" y="39469"/>
                  <a:pt x="3125" y="35272"/>
                </a:cubicBezTo>
                <a:cubicBezTo>
                  <a:pt x="7278" y="31075"/>
                  <a:pt x="14109" y="31120"/>
                  <a:pt x="18306" y="35272"/>
                </a:cubicBezTo>
                <a:lnTo>
                  <a:pt x="27146" y="44113"/>
                </a:lnTo>
                <a:lnTo>
                  <a:pt x="44827" y="18842"/>
                </a:lnTo>
                <a:cubicBezTo>
                  <a:pt x="48220" y="13975"/>
                  <a:pt x="54918" y="12814"/>
                  <a:pt x="59740" y="16207"/>
                </a:cubicBezTo>
                <a:close/>
                <a:moveTo>
                  <a:pt x="59740" y="87645"/>
                </a:moveTo>
                <a:cubicBezTo>
                  <a:pt x="64606" y="91038"/>
                  <a:pt x="65767" y="97735"/>
                  <a:pt x="62374" y="102557"/>
                </a:cubicBezTo>
                <a:lnTo>
                  <a:pt x="37371" y="138276"/>
                </a:lnTo>
                <a:cubicBezTo>
                  <a:pt x="35540" y="140866"/>
                  <a:pt x="32683" y="142518"/>
                  <a:pt x="29513" y="142786"/>
                </a:cubicBezTo>
                <a:cubicBezTo>
                  <a:pt x="26343" y="143054"/>
                  <a:pt x="23217" y="141982"/>
                  <a:pt x="20985" y="139750"/>
                </a:cubicBezTo>
                <a:lnTo>
                  <a:pt x="3125" y="121890"/>
                </a:lnTo>
                <a:cubicBezTo>
                  <a:pt x="-1072" y="117693"/>
                  <a:pt x="-1072" y="110907"/>
                  <a:pt x="3125" y="106754"/>
                </a:cubicBezTo>
                <a:cubicBezTo>
                  <a:pt x="7322" y="102602"/>
                  <a:pt x="14109" y="102557"/>
                  <a:pt x="18261" y="106754"/>
                </a:cubicBezTo>
                <a:lnTo>
                  <a:pt x="27102" y="115595"/>
                </a:lnTo>
                <a:lnTo>
                  <a:pt x="44782" y="90324"/>
                </a:lnTo>
                <a:cubicBezTo>
                  <a:pt x="48176" y="85457"/>
                  <a:pt x="54873" y="84296"/>
                  <a:pt x="59695" y="87690"/>
                </a:cubicBezTo>
                <a:close/>
                <a:moveTo>
                  <a:pt x="100013" y="42863"/>
                </a:moveTo>
                <a:cubicBezTo>
                  <a:pt x="100013" y="34960"/>
                  <a:pt x="106397" y="28575"/>
                  <a:pt x="114300" y="28575"/>
                </a:cubicBezTo>
                <a:lnTo>
                  <a:pt x="214313" y="28575"/>
                </a:lnTo>
                <a:cubicBezTo>
                  <a:pt x="222215" y="28575"/>
                  <a:pt x="228600" y="34960"/>
                  <a:pt x="228600" y="42863"/>
                </a:cubicBezTo>
                <a:cubicBezTo>
                  <a:pt x="228600" y="50765"/>
                  <a:pt x="222215" y="57150"/>
                  <a:pt x="214313" y="57150"/>
                </a:cubicBezTo>
                <a:lnTo>
                  <a:pt x="114300" y="57150"/>
                </a:lnTo>
                <a:cubicBezTo>
                  <a:pt x="106397" y="57150"/>
                  <a:pt x="100013" y="50765"/>
                  <a:pt x="100013" y="42863"/>
                </a:cubicBezTo>
                <a:close/>
                <a:moveTo>
                  <a:pt x="100013" y="114300"/>
                </a:moveTo>
                <a:cubicBezTo>
                  <a:pt x="100013" y="106397"/>
                  <a:pt x="106397" y="100013"/>
                  <a:pt x="114300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114300" y="128588"/>
                </a:lnTo>
                <a:cubicBezTo>
                  <a:pt x="106397" y="128588"/>
                  <a:pt x="100013" y="122203"/>
                  <a:pt x="100013" y="114300"/>
                </a:cubicBezTo>
                <a:close/>
                <a:moveTo>
                  <a:pt x="71438" y="185738"/>
                </a:moveTo>
                <a:cubicBezTo>
                  <a:pt x="71438" y="177835"/>
                  <a:pt x="77822" y="171450"/>
                  <a:pt x="85725" y="171450"/>
                </a:cubicBezTo>
                <a:lnTo>
                  <a:pt x="214313" y="171450"/>
                </a:lnTo>
                <a:cubicBezTo>
                  <a:pt x="222215" y="171450"/>
                  <a:pt x="228600" y="177835"/>
                  <a:pt x="228600" y="185738"/>
                </a:cubicBezTo>
                <a:cubicBezTo>
                  <a:pt x="228600" y="193640"/>
                  <a:pt x="222215" y="200025"/>
                  <a:pt x="214313" y="200025"/>
                </a:cubicBezTo>
                <a:lnTo>
                  <a:pt x="85725" y="200025"/>
                </a:lnTo>
                <a:cubicBezTo>
                  <a:pt x="77822" y="200025"/>
                  <a:pt x="71438" y="193640"/>
                  <a:pt x="71438" y="185738"/>
                </a:cubicBezTo>
                <a:close/>
                <a:moveTo>
                  <a:pt x="28575" y="167878"/>
                </a:moveTo>
                <a:cubicBezTo>
                  <a:pt x="38432" y="167878"/>
                  <a:pt x="46434" y="175881"/>
                  <a:pt x="46434" y="185738"/>
                </a:cubicBezTo>
                <a:cubicBezTo>
                  <a:pt x="46434" y="195594"/>
                  <a:pt x="38432" y="203597"/>
                  <a:pt x="28575" y="203597"/>
                </a:cubicBezTo>
                <a:cubicBezTo>
                  <a:pt x="18718" y="203597"/>
                  <a:pt x="10716" y="195594"/>
                  <a:pt x="10716" y="185738"/>
                </a:cubicBezTo>
                <a:cubicBezTo>
                  <a:pt x="10716" y="175881"/>
                  <a:pt x="18718" y="167878"/>
                  <a:pt x="28575" y="167878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4" name="Text 12"/>
          <p:cNvSpPr/>
          <p:nvPr/>
        </p:nvSpPr>
        <p:spPr>
          <a:xfrm>
            <a:off x="981075" y="3724275"/>
            <a:ext cx="148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工作流程定义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81025" y="42195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29139" y="41814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开发流程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：需求分析 → 规范编写 → 任务拆解 → 编码实现 → 测试验证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1025" y="45624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9139" y="4524375"/>
            <a:ext cx="51244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代码审查流程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：自测通过 → PR提交 → 自动化检查 → 人工评审 → 合并入库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50958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29139" y="5057775"/>
            <a:ext cx="485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发布流程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：版本规划 → 功能冻结 → 回归测试 → 灰度发布 → 全量上线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5063" y="1452563"/>
            <a:ext cx="5591175" cy="1990725"/>
          </a:xfrm>
          <a:prstGeom prst="roundRect">
            <a:avLst>
              <a:gd name="adj" fmla="val 3828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67475" y="16859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3" name="Text 21"/>
          <p:cNvSpPr/>
          <p:nvPr/>
        </p:nvSpPr>
        <p:spPr>
          <a:xfrm>
            <a:off x="6810375" y="1647825"/>
            <a:ext cx="1647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Todo 管理规范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10325" y="210502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22577A"/>
          </a:solidFill>
          <a:ln/>
        </p:spPr>
      </p:sp>
      <p:sp>
        <p:nvSpPr>
          <p:cNvPr id="25" name="Text 23"/>
          <p:cNvSpPr/>
          <p:nvPr/>
        </p:nvSpPr>
        <p:spPr>
          <a:xfrm>
            <a:off x="6376988" y="21050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829425" y="2143125"/>
            <a:ext cx="3895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创建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：每个任务必须有明确的目标、验收标准和截止日期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10325" y="252412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22577A"/>
          </a:solidFill>
          <a:ln/>
        </p:spPr>
      </p:sp>
      <p:sp>
        <p:nvSpPr>
          <p:cNvPr id="28" name="Text 26"/>
          <p:cNvSpPr/>
          <p:nvPr/>
        </p:nvSpPr>
        <p:spPr>
          <a:xfrm>
            <a:off x="6376988" y="25241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29425" y="2562225"/>
            <a:ext cx="3067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更新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：每日同步进度，阻塞问题2小时内上报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410325" y="2943225"/>
            <a:ext cx="304800" cy="304800"/>
          </a:xfrm>
          <a:prstGeom prst="roundRect">
            <a:avLst>
              <a:gd name="adj" fmla="val 12500"/>
            </a:avLst>
          </a:prstGeom>
          <a:solidFill>
            <a:srgbClr val="22577A"/>
          </a:solidFill>
          <a:ln/>
        </p:spPr>
      </p:sp>
      <p:sp>
        <p:nvSpPr>
          <p:cNvPr id="31" name="Text 29"/>
          <p:cNvSpPr/>
          <p:nvPr/>
        </p:nvSpPr>
        <p:spPr>
          <a:xfrm>
            <a:off x="6376988" y="2943225"/>
            <a:ext cx="371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29425" y="2981325"/>
            <a:ext cx="3286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关闭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：任务完成后需关联代码提交，并更新文档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5063" y="3643313"/>
            <a:ext cx="5591175" cy="1800225"/>
          </a:xfrm>
          <a:prstGeom prst="roundRect">
            <a:avLst>
              <a:gd name="adj" fmla="val 423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38900" y="38766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44336" y="114345"/>
                </a:moveTo>
                <a:lnTo>
                  <a:pt x="75322" y="60811"/>
                </a:lnTo>
                <a:cubicBezTo>
                  <a:pt x="72822" y="55364"/>
                  <a:pt x="71393" y="49292"/>
                  <a:pt x="71393" y="42863"/>
                </a:cubicBezTo>
                <a:cubicBezTo>
                  <a:pt x="71393" y="19199"/>
                  <a:pt x="90592" y="0"/>
                  <a:pt x="114255" y="0"/>
                </a:cubicBezTo>
                <a:cubicBezTo>
                  <a:pt x="137919" y="0"/>
                  <a:pt x="157118" y="19199"/>
                  <a:pt x="157118" y="42863"/>
                </a:cubicBezTo>
                <a:cubicBezTo>
                  <a:pt x="157118" y="49247"/>
                  <a:pt x="155734" y="55319"/>
                  <a:pt x="153189" y="60811"/>
                </a:cubicBezTo>
                <a:lnTo>
                  <a:pt x="173013" y="95057"/>
                </a:lnTo>
                <a:cubicBezTo>
                  <a:pt x="162699" y="106665"/>
                  <a:pt x="149036" y="115193"/>
                  <a:pt x="133543" y="119077"/>
                </a:cubicBezTo>
                <a:lnTo>
                  <a:pt x="114300" y="85680"/>
                </a:lnTo>
                <a:lnTo>
                  <a:pt x="83894" y="138187"/>
                </a:lnTo>
                <a:cubicBezTo>
                  <a:pt x="93494" y="141223"/>
                  <a:pt x="103674" y="142875"/>
                  <a:pt x="114300" y="142875"/>
                </a:cubicBezTo>
                <a:cubicBezTo>
                  <a:pt x="145866" y="142875"/>
                  <a:pt x="174040" y="128275"/>
                  <a:pt x="192390" y="105370"/>
                </a:cubicBezTo>
                <a:cubicBezTo>
                  <a:pt x="197346" y="99209"/>
                  <a:pt x="206320" y="98227"/>
                  <a:pt x="212482" y="103138"/>
                </a:cubicBezTo>
                <a:cubicBezTo>
                  <a:pt x="218643" y="108049"/>
                  <a:pt x="219626" y="117068"/>
                  <a:pt x="214714" y="123230"/>
                </a:cubicBezTo>
                <a:cubicBezTo>
                  <a:pt x="191185" y="152608"/>
                  <a:pt x="154930" y="171450"/>
                  <a:pt x="114345" y="171450"/>
                </a:cubicBezTo>
                <a:cubicBezTo>
                  <a:pt x="98539" y="171450"/>
                  <a:pt x="83359" y="168593"/>
                  <a:pt x="69384" y="163369"/>
                </a:cubicBezTo>
                <a:lnTo>
                  <a:pt x="44068" y="207035"/>
                </a:lnTo>
                <a:cubicBezTo>
                  <a:pt x="41970" y="210651"/>
                  <a:pt x="38844" y="213598"/>
                  <a:pt x="35094" y="215473"/>
                </a:cubicBezTo>
                <a:lnTo>
                  <a:pt x="10358" y="227841"/>
                </a:lnTo>
                <a:cubicBezTo>
                  <a:pt x="8126" y="228957"/>
                  <a:pt x="5492" y="228823"/>
                  <a:pt x="3393" y="227528"/>
                </a:cubicBezTo>
                <a:cubicBezTo>
                  <a:pt x="1295" y="226234"/>
                  <a:pt x="0" y="223912"/>
                  <a:pt x="0" y="221456"/>
                </a:cubicBezTo>
                <a:lnTo>
                  <a:pt x="0" y="196721"/>
                </a:lnTo>
                <a:cubicBezTo>
                  <a:pt x="0" y="192971"/>
                  <a:pt x="982" y="189265"/>
                  <a:pt x="2902" y="185961"/>
                </a:cubicBezTo>
                <a:lnTo>
                  <a:pt x="29691" y="139660"/>
                </a:lnTo>
                <a:cubicBezTo>
                  <a:pt x="23976" y="134660"/>
                  <a:pt x="18708" y="129168"/>
                  <a:pt x="13930" y="123230"/>
                </a:cubicBezTo>
                <a:cubicBezTo>
                  <a:pt x="8974" y="117068"/>
                  <a:pt x="10001" y="108094"/>
                  <a:pt x="16163" y="103138"/>
                </a:cubicBezTo>
                <a:cubicBezTo>
                  <a:pt x="22324" y="98182"/>
                  <a:pt x="31299" y="99209"/>
                  <a:pt x="36255" y="105370"/>
                </a:cubicBezTo>
                <a:cubicBezTo>
                  <a:pt x="38799" y="108540"/>
                  <a:pt x="41523" y="111532"/>
                  <a:pt x="44381" y="114345"/>
                </a:cubicBezTo>
                <a:close/>
                <a:moveTo>
                  <a:pt x="170155" y="182121"/>
                </a:moveTo>
                <a:cubicBezTo>
                  <a:pt x="184666" y="176317"/>
                  <a:pt x="198016" y="168280"/>
                  <a:pt x="209848" y="158502"/>
                </a:cubicBezTo>
                <a:lnTo>
                  <a:pt x="225743" y="185961"/>
                </a:lnTo>
                <a:cubicBezTo>
                  <a:pt x="227618" y="189220"/>
                  <a:pt x="228645" y="192926"/>
                  <a:pt x="228645" y="196721"/>
                </a:cubicBezTo>
                <a:lnTo>
                  <a:pt x="228645" y="221456"/>
                </a:lnTo>
                <a:cubicBezTo>
                  <a:pt x="228645" y="223912"/>
                  <a:pt x="227350" y="226234"/>
                  <a:pt x="225251" y="227528"/>
                </a:cubicBezTo>
                <a:cubicBezTo>
                  <a:pt x="223153" y="228823"/>
                  <a:pt x="220519" y="228957"/>
                  <a:pt x="218286" y="227841"/>
                </a:cubicBezTo>
                <a:lnTo>
                  <a:pt x="193551" y="215473"/>
                </a:lnTo>
                <a:cubicBezTo>
                  <a:pt x="189801" y="213598"/>
                  <a:pt x="186675" y="210651"/>
                  <a:pt x="184577" y="207035"/>
                </a:cubicBezTo>
                <a:lnTo>
                  <a:pt x="170155" y="182121"/>
                </a:lnTo>
                <a:close/>
                <a:moveTo>
                  <a:pt x="114300" y="57150"/>
                </a:moveTo>
                <a:cubicBezTo>
                  <a:pt x="122185" y="57150"/>
                  <a:pt x="128588" y="50748"/>
                  <a:pt x="128588" y="42863"/>
                </a:cubicBezTo>
                <a:cubicBezTo>
                  <a:pt x="128588" y="34977"/>
                  <a:pt x="122185" y="28575"/>
                  <a:pt x="114300" y="28575"/>
                </a:cubicBezTo>
                <a:cubicBezTo>
                  <a:pt x="106415" y="28575"/>
                  <a:pt x="100013" y="34977"/>
                  <a:pt x="100013" y="42863"/>
                </a:cubicBezTo>
                <a:cubicBezTo>
                  <a:pt x="100013" y="50748"/>
                  <a:pt x="106415" y="57150"/>
                  <a:pt x="114300" y="5715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5" name="Text 33"/>
          <p:cNvSpPr/>
          <p:nvPr/>
        </p:nvSpPr>
        <p:spPr>
          <a:xfrm>
            <a:off x="6810375" y="3838575"/>
            <a:ext cx="18383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Design 管理规范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410325" y="43338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558439" y="4295775"/>
            <a:ext cx="3381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：设计文档纳入Git管理，变更需PR审批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10325" y="46767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6558439" y="4638675"/>
            <a:ext cx="38576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结构化格式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：使用Markdown + YAML/JSON，机器可读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10325" y="5019675"/>
            <a:ext cx="15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58439" y="4981575"/>
            <a:ext cx="28289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活文档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：规范随代码演进，始终保持一致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5063" y="5643563"/>
            <a:ext cx="5591175" cy="771525"/>
          </a:xfrm>
          <a:prstGeom prst="roundRect">
            <a:avLst>
              <a:gd name="adj" fmla="val 9877"/>
            </a:avLst>
          </a:prstGeom>
          <a:solidFill>
            <a:srgbClr val="38A3A5">
              <a:alpha val="10196"/>
            </a:srgbClr>
          </a:solidFill>
          <a:ln w="12700">
            <a:solidFill>
              <a:srgbClr val="38A3A5">
                <a:alpha val="5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0325" y="584358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44" name="Text 42"/>
          <p:cNvSpPr/>
          <p:nvPr/>
        </p:nvSpPr>
        <p:spPr>
          <a:xfrm>
            <a:off x="6619875" y="5800725"/>
            <a:ext cx="510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：agents.md 应该在项目第一天就创建，并在团队内达成共识。它是项目的"宪法"，所有成员都必须遵守。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38A3A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PROJECT INITIATION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设置基础内容：架构与框架选择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14463"/>
            <a:ext cx="3676650" cy="4352925"/>
          </a:xfrm>
          <a:prstGeom prst="roundRect">
            <a:avLst>
              <a:gd name="adj" fmla="val 207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62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85725" y="28575"/>
                </a:moveTo>
                <a:cubicBezTo>
                  <a:pt x="85725" y="20672"/>
                  <a:pt x="92110" y="14288"/>
                  <a:pt x="100013" y="14288"/>
                </a:cubicBezTo>
                <a:lnTo>
                  <a:pt x="128588" y="14288"/>
                </a:lnTo>
                <a:cubicBezTo>
                  <a:pt x="136490" y="14288"/>
                  <a:pt x="142875" y="20672"/>
                  <a:pt x="142875" y="28575"/>
                </a:cubicBezTo>
                <a:lnTo>
                  <a:pt x="142875" y="57150"/>
                </a:lnTo>
                <a:cubicBezTo>
                  <a:pt x="142875" y="65053"/>
                  <a:pt x="136490" y="71438"/>
                  <a:pt x="128588" y="71438"/>
                </a:cubicBezTo>
                <a:lnTo>
                  <a:pt x="125016" y="71438"/>
                </a:lnTo>
                <a:lnTo>
                  <a:pt x="125016" y="100013"/>
                </a:lnTo>
                <a:lnTo>
                  <a:pt x="178594" y="100013"/>
                </a:lnTo>
                <a:cubicBezTo>
                  <a:pt x="196364" y="100013"/>
                  <a:pt x="210741" y="114389"/>
                  <a:pt x="210741" y="132159"/>
                </a:cubicBezTo>
                <a:lnTo>
                  <a:pt x="210741" y="157163"/>
                </a:lnTo>
                <a:lnTo>
                  <a:pt x="214313" y="157163"/>
                </a:lnTo>
                <a:cubicBezTo>
                  <a:pt x="222215" y="157163"/>
                  <a:pt x="228600" y="163547"/>
                  <a:pt x="228600" y="171450"/>
                </a:cubicBezTo>
                <a:lnTo>
                  <a:pt x="228600" y="200025"/>
                </a:lnTo>
                <a:cubicBezTo>
                  <a:pt x="228600" y="207928"/>
                  <a:pt x="222215" y="214313"/>
                  <a:pt x="214313" y="214313"/>
                </a:cubicBezTo>
                <a:lnTo>
                  <a:pt x="185738" y="214313"/>
                </a:lnTo>
                <a:cubicBezTo>
                  <a:pt x="177835" y="214313"/>
                  <a:pt x="171450" y="207928"/>
                  <a:pt x="171450" y="200025"/>
                </a:cubicBezTo>
                <a:lnTo>
                  <a:pt x="171450" y="171450"/>
                </a:lnTo>
                <a:cubicBezTo>
                  <a:pt x="171450" y="163547"/>
                  <a:pt x="177835" y="157163"/>
                  <a:pt x="185738" y="157163"/>
                </a:cubicBezTo>
                <a:lnTo>
                  <a:pt x="189309" y="157163"/>
                </a:lnTo>
                <a:lnTo>
                  <a:pt x="189309" y="132159"/>
                </a:lnTo>
                <a:cubicBezTo>
                  <a:pt x="189309" y="126221"/>
                  <a:pt x="184532" y="121444"/>
                  <a:pt x="178594" y="121444"/>
                </a:cubicBezTo>
                <a:lnTo>
                  <a:pt x="125016" y="121444"/>
                </a:lnTo>
                <a:lnTo>
                  <a:pt x="125016" y="157163"/>
                </a:lnTo>
                <a:lnTo>
                  <a:pt x="128588" y="157163"/>
                </a:lnTo>
                <a:cubicBezTo>
                  <a:pt x="136490" y="157163"/>
                  <a:pt x="142875" y="163547"/>
                  <a:pt x="142875" y="171450"/>
                </a:cubicBezTo>
                <a:lnTo>
                  <a:pt x="142875" y="200025"/>
                </a:lnTo>
                <a:cubicBezTo>
                  <a:pt x="142875" y="207928"/>
                  <a:pt x="136490" y="214313"/>
                  <a:pt x="128588" y="214313"/>
                </a:cubicBezTo>
                <a:lnTo>
                  <a:pt x="100013" y="214313"/>
                </a:lnTo>
                <a:cubicBezTo>
                  <a:pt x="92110" y="214313"/>
                  <a:pt x="85725" y="207928"/>
                  <a:pt x="85725" y="200025"/>
                </a:cubicBezTo>
                <a:lnTo>
                  <a:pt x="85725" y="171450"/>
                </a:lnTo>
                <a:cubicBezTo>
                  <a:pt x="85725" y="163547"/>
                  <a:pt x="92110" y="157163"/>
                  <a:pt x="100013" y="157163"/>
                </a:cubicBezTo>
                <a:lnTo>
                  <a:pt x="103584" y="157163"/>
                </a:lnTo>
                <a:lnTo>
                  <a:pt x="103584" y="121444"/>
                </a:lnTo>
                <a:lnTo>
                  <a:pt x="50006" y="121444"/>
                </a:lnTo>
                <a:cubicBezTo>
                  <a:pt x="44068" y="121444"/>
                  <a:pt x="39291" y="126221"/>
                  <a:pt x="39291" y="132159"/>
                </a:cubicBezTo>
                <a:lnTo>
                  <a:pt x="39291" y="157163"/>
                </a:lnTo>
                <a:lnTo>
                  <a:pt x="42863" y="157163"/>
                </a:lnTo>
                <a:cubicBezTo>
                  <a:pt x="50765" y="157163"/>
                  <a:pt x="57150" y="163547"/>
                  <a:pt x="57150" y="171450"/>
                </a:cubicBezTo>
                <a:lnTo>
                  <a:pt x="57150" y="200025"/>
                </a:lnTo>
                <a:cubicBezTo>
                  <a:pt x="57150" y="207928"/>
                  <a:pt x="50765" y="214313"/>
                  <a:pt x="42863" y="214313"/>
                </a:cubicBezTo>
                <a:lnTo>
                  <a:pt x="14288" y="214313"/>
                </a:lnTo>
                <a:cubicBezTo>
                  <a:pt x="6385" y="214313"/>
                  <a:pt x="0" y="207928"/>
                  <a:pt x="0" y="200025"/>
                </a:cubicBezTo>
                <a:lnTo>
                  <a:pt x="0" y="171450"/>
                </a:lnTo>
                <a:cubicBezTo>
                  <a:pt x="0" y="163547"/>
                  <a:pt x="6385" y="157163"/>
                  <a:pt x="14288" y="157163"/>
                </a:cubicBezTo>
                <a:lnTo>
                  <a:pt x="17859" y="157163"/>
                </a:lnTo>
                <a:lnTo>
                  <a:pt x="17859" y="132159"/>
                </a:lnTo>
                <a:cubicBezTo>
                  <a:pt x="17859" y="114389"/>
                  <a:pt x="32236" y="100013"/>
                  <a:pt x="50006" y="100013"/>
                </a:cubicBezTo>
                <a:lnTo>
                  <a:pt x="103584" y="100013"/>
                </a:lnTo>
                <a:lnTo>
                  <a:pt x="103584" y="71438"/>
                </a:lnTo>
                <a:lnTo>
                  <a:pt x="100013" y="71438"/>
                </a:lnTo>
                <a:cubicBezTo>
                  <a:pt x="92110" y="71438"/>
                  <a:pt x="85725" y="65053"/>
                  <a:pt x="85725" y="57150"/>
                </a:cubicBezTo>
                <a:lnTo>
                  <a:pt x="85725" y="28575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981075" y="16097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架构设计原则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028825"/>
            <a:ext cx="3286125" cy="876300"/>
          </a:xfrm>
          <a:prstGeom prst="roundRect">
            <a:avLst>
              <a:gd name="adj" fmla="val 4348"/>
            </a:avLst>
          </a:prstGeom>
          <a:solidFill>
            <a:srgbClr val="0F1115"/>
          </a:solidFill>
          <a:ln/>
        </p:spPr>
      </p:sp>
      <p:sp>
        <p:nvSpPr>
          <p:cNvPr id="9" name="Text 7"/>
          <p:cNvSpPr/>
          <p:nvPr/>
        </p:nvSpPr>
        <p:spPr>
          <a:xfrm>
            <a:off x="695325" y="2143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模仿与改进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5325" y="24098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从成熟项目中学习架构模式，结合业务特点改进，避免重复造轮子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025" y="3019425"/>
            <a:ext cx="3286125" cy="876300"/>
          </a:xfrm>
          <a:prstGeom prst="roundRect">
            <a:avLst>
              <a:gd name="adj" fmla="val 4348"/>
            </a:avLst>
          </a:prstGeom>
          <a:solidFill>
            <a:srgbClr val="0F1115"/>
          </a:solidFill>
          <a:ln/>
        </p:spPr>
      </p:sp>
      <p:sp>
        <p:nvSpPr>
          <p:cNvPr id="12" name="Text 10"/>
          <p:cNvSpPr/>
          <p:nvPr/>
        </p:nvSpPr>
        <p:spPr>
          <a:xfrm>
            <a:off x="695325" y="31337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分层架构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5325" y="34004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API层 → 业务逻辑层 → 数据访问层，职责清晰，便于测试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81025" y="40100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15" name="Text 13"/>
          <p:cNvSpPr/>
          <p:nvPr/>
        </p:nvSpPr>
        <p:spPr>
          <a:xfrm>
            <a:off x="695325" y="4124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依赖倒置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5325" y="43910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高层模块不依赖低层模块，都依赖抽象接口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259263" y="1414463"/>
            <a:ext cx="3676650" cy="4352925"/>
          </a:xfrm>
          <a:prstGeom prst="roundRect">
            <a:avLst>
              <a:gd name="adj" fmla="val 207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483100" y="162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9" name="Text 17"/>
          <p:cNvSpPr/>
          <p:nvPr/>
        </p:nvSpPr>
        <p:spPr>
          <a:xfrm>
            <a:off x="4854575" y="1609725"/>
            <a:ext cx="123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前端框架策略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454525" y="2028825"/>
            <a:ext cx="3286125" cy="876300"/>
          </a:xfrm>
          <a:prstGeom prst="roundRect">
            <a:avLst>
              <a:gd name="adj" fmla="val 4348"/>
            </a:avLst>
          </a:prstGeom>
          <a:solidFill>
            <a:srgbClr val="0F1115"/>
          </a:solidFill>
          <a:ln/>
        </p:spPr>
      </p:sp>
      <p:sp>
        <p:nvSpPr>
          <p:cNvPr id="21" name="Text 19"/>
          <p:cNvSpPr/>
          <p:nvPr/>
        </p:nvSpPr>
        <p:spPr>
          <a:xfrm>
            <a:off x="4568825" y="2143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viding 默认策略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68825" y="24098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不使用框架，保持轻量化和灵活性，但需提前规划扩展性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454525" y="3019425"/>
            <a:ext cx="3286125" cy="876300"/>
          </a:xfrm>
          <a:prstGeom prst="roundRect">
            <a:avLst>
              <a:gd name="adj" fmla="val 4348"/>
            </a:avLst>
          </a:prstGeom>
          <a:solidFill>
            <a:srgbClr val="0F1115"/>
          </a:solidFill>
          <a:ln/>
        </p:spPr>
      </p:sp>
      <p:sp>
        <p:nvSpPr>
          <p:cNvPr id="24" name="Text 22"/>
          <p:cNvSpPr/>
          <p:nvPr/>
        </p:nvSpPr>
        <p:spPr>
          <a:xfrm>
            <a:off x="4568825" y="31337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渐进式增强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68825" y="34004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从简单开始，当复杂度达到阈值时引入框架，而非一开始就过度设计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454525" y="4010025"/>
            <a:ext cx="3286125" cy="876300"/>
          </a:xfrm>
          <a:prstGeom prst="roundRect">
            <a:avLst>
              <a:gd name="adj" fmla="val 4348"/>
            </a:avLst>
          </a:prstGeom>
          <a:solidFill>
            <a:srgbClr val="0F1115"/>
          </a:solidFill>
          <a:ln/>
        </p:spPr>
      </p:sp>
      <p:sp>
        <p:nvSpPr>
          <p:cNvPr id="27" name="Text 25"/>
          <p:cNvSpPr/>
          <p:nvPr/>
        </p:nvSpPr>
        <p:spPr>
          <a:xfrm>
            <a:off x="4568825" y="4124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组件化思维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68825" y="4391025"/>
            <a:ext cx="3124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即使不用框架，也要用组件化思想组织代码，便于后续迁移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132762" y="1414463"/>
            <a:ext cx="3676650" cy="4352925"/>
          </a:xfrm>
          <a:prstGeom prst="roundRect">
            <a:avLst>
              <a:gd name="adj" fmla="val 207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28025" y="1628775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1" name="Text 29"/>
          <p:cNvSpPr/>
          <p:nvPr/>
        </p:nvSpPr>
        <p:spPr>
          <a:xfrm>
            <a:off x="8728075" y="1609725"/>
            <a:ext cx="14287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技术栈选型矩阵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328025" y="20288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3" name="Text 31"/>
          <p:cNvSpPr/>
          <p:nvPr/>
        </p:nvSpPr>
        <p:spPr>
          <a:xfrm>
            <a:off x="8442325" y="214312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829925" y="21621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★★★★☆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442325" y="2409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QPS、延迟、资源占用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328025" y="27908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7" name="Text 35"/>
          <p:cNvSpPr/>
          <p:nvPr/>
        </p:nvSpPr>
        <p:spPr>
          <a:xfrm>
            <a:off x="8442325" y="290512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10829925" y="29241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★★★★★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42325" y="3171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社区活跃度、第三方库丰富度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28025" y="35528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41" name="Text 39"/>
          <p:cNvSpPr/>
          <p:nvPr/>
        </p:nvSpPr>
        <p:spPr>
          <a:xfrm>
            <a:off x="8442325" y="3667125"/>
            <a:ext cx="857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团队熟悉度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10829925" y="36861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★★★☆☆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42325" y="3933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学习曲线、人才招聘难度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28025" y="43148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45" name="Text 43"/>
          <p:cNvSpPr/>
          <p:nvPr/>
        </p:nvSpPr>
        <p:spPr>
          <a:xfrm>
            <a:off x="8442325" y="4429125"/>
            <a:ext cx="704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维护成本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0829925" y="4448175"/>
            <a:ext cx="733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★★★★☆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442325" y="4695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长期支持、版本升级成本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385763" y="5929313"/>
            <a:ext cx="11420475" cy="542925"/>
          </a:xfrm>
          <a:prstGeom prst="roundRect">
            <a:avLst>
              <a:gd name="adj" fmla="val 14035"/>
            </a:avLst>
          </a:prstGeom>
          <a:solidFill>
            <a:srgbClr val="38A3A5">
              <a:alpha val="10196"/>
            </a:srgbClr>
          </a:solidFill>
          <a:ln w="12700">
            <a:solidFill>
              <a:srgbClr val="38A3A5">
                <a:alpha val="5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1975" y="61293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cubicBezTo>
                  <a:pt x="80576" y="0"/>
                  <a:pt x="84594" y="2411"/>
                  <a:pt x="86678" y="6251"/>
                </a:cubicBezTo>
                <a:lnTo>
                  <a:pt x="150971" y="125313"/>
                </a:lnTo>
                <a:cubicBezTo>
                  <a:pt x="152966" y="129004"/>
                  <a:pt x="152876" y="133469"/>
                  <a:pt x="150733" y="137071"/>
                </a:cubicBezTo>
                <a:cubicBezTo>
                  <a:pt x="148590" y="140672"/>
                  <a:pt x="144691" y="142875"/>
                  <a:pt x="140494" y="142875"/>
                </a:cubicBezTo>
                <a:lnTo>
                  <a:pt x="11906" y="142875"/>
                </a:lnTo>
                <a:cubicBezTo>
                  <a:pt x="7709" y="142875"/>
                  <a:pt x="3840" y="140672"/>
                  <a:pt x="1667" y="137071"/>
                </a:cubicBezTo>
                <a:cubicBezTo>
                  <a:pt x="-506" y="133469"/>
                  <a:pt x="-566" y="129004"/>
                  <a:pt x="1429" y="125313"/>
                </a:cubicBezTo>
                <a:lnTo>
                  <a:pt x="65723" y="6251"/>
                </a:lnTo>
                <a:cubicBezTo>
                  <a:pt x="67806" y="2411"/>
                  <a:pt x="71824" y="0"/>
                  <a:pt x="76200" y="0"/>
                </a:cubicBezTo>
                <a:close/>
                <a:moveTo>
                  <a:pt x="76200" y="50006"/>
                </a:moveTo>
                <a:cubicBezTo>
                  <a:pt x="72241" y="50006"/>
                  <a:pt x="69056" y="53191"/>
                  <a:pt x="69056" y="57150"/>
                </a:cubicBezTo>
                <a:lnTo>
                  <a:pt x="69056" y="90488"/>
                </a:lnTo>
                <a:cubicBezTo>
                  <a:pt x="69056" y="94446"/>
                  <a:pt x="72241" y="97631"/>
                  <a:pt x="76200" y="97631"/>
                </a:cubicBezTo>
                <a:cubicBezTo>
                  <a:pt x="80159" y="97631"/>
                  <a:pt x="83344" y="94446"/>
                  <a:pt x="83344" y="90488"/>
                </a:cubicBezTo>
                <a:lnTo>
                  <a:pt x="83344" y="57150"/>
                </a:lnTo>
                <a:cubicBezTo>
                  <a:pt x="83344" y="53191"/>
                  <a:pt x="80159" y="50006"/>
                  <a:pt x="76200" y="50006"/>
                </a:cubicBezTo>
                <a:close/>
                <a:moveTo>
                  <a:pt x="84147" y="114300"/>
                </a:moveTo>
                <a:cubicBezTo>
                  <a:pt x="84328" y="111350"/>
                  <a:pt x="82857" y="108543"/>
                  <a:pt x="80328" y="107014"/>
                </a:cubicBezTo>
                <a:cubicBezTo>
                  <a:pt x="77799" y="105484"/>
                  <a:pt x="74630" y="105484"/>
                  <a:pt x="72102" y="107014"/>
                </a:cubicBezTo>
                <a:cubicBezTo>
                  <a:pt x="69573" y="108543"/>
                  <a:pt x="68102" y="111350"/>
                  <a:pt x="68282" y="114300"/>
                </a:cubicBezTo>
                <a:cubicBezTo>
                  <a:pt x="68102" y="117250"/>
                  <a:pt x="69573" y="120057"/>
                  <a:pt x="72102" y="121586"/>
                </a:cubicBezTo>
                <a:cubicBezTo>
                  <a:pt x="74630" y="123116"/>
                  <a:pt x="77799" y="123116"/>
                  <a:pt x="80328" y="121586"/>
                </a:cubicBezTo>
                <a:cubicBezTo>
                  <a:pt x="82857" y="120057"/>
                  <a:pt x="84328" y="117250"/>
                  <a:pt x="84147" y="11430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50" name="Text 48"/>
          <p:cNvSpPr/>
          <p:nvPr/>
        </p:nvSpPr>
        <p:spPr>
          <a:xfrm>
            <a:off x="790575" y="608647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关键提醒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：架构设计不是一次性的，而是持续演进的过程。初期保持简单，预留扩展点，避免过度设计。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0" y="2114550"/>
            <a:ext cx="1524000" cy="3810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5" name="Shape 2"/>
          <p:cNvSpPr/>
          <p:nvPr/>
        </p:nvSpPr>
        <p:spPr>
          <a:xfrm>
            <a:off x="10896600" y="1676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6" name="Text 3"/>
          <p:cNvSpPr/>
          <p:nvPr/>
        </p:nvSpPr>
        <p:spPr>
          <a:xfrm>
            <a:off x="10782300" y="16764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86454" y="2895600"/>
            <a:ext cx="462915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测试与</a:t>
            </a:r>
            <a:endParaRPr lang="en-US" sz="1600" dirty="0"/>
          </a:p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效率飞轮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86479" y="4838700"/>
            <a:ext cx="44291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用测试定义行为，用效率驱动交付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TESTING &amp; EFFICIENCY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TDD × SDD：双轮驱动的开发范式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14463"/>
            <a:ext cx="5591175" cy="2219325"/>
          </a:xfrm>
          <a:prstGeom prst="roundRect">
            <a:avLst>
              <a:gd name="adj" fmla="val 343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9600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4980" y="33352"/>
                </a:moveTo>
                <a:lnTo>
                  <a:pt x="200025" y="38130"/>
                </a:lnTo>
                <a:lnTo>
                  <a:pt x="200025" y="14288"/>
                </a:lnTo>
                <a:cubicBezTo>
                  <a:pt x="200025" y="6385"/>
                  <a:pt x="206410" y="0"/>
                  <a:pt x="214313" y="0"/>
                </a:cubicBezTo>
                <a:cubicBezTo>
                  <a:pt x="222215" y="0"/>
                  <a:pt x="228600" y="6385"/>
                  <a:pt x="228600" y="14288"/>
                </a:cubicBezTo>
                <a:lnTo>
                  <a:pt x="228600" y="71438"/>
                </a:lnTo>
                <a:cubicBezTo>
                  <a:pt x="228600" y="79340"/>
                  <a:pt x="222215" y="85725"/>
                  <a:pt x="214313" y="85725"/>
                </a:cubicBezTo>
                <a:lnTo>
                  <a:pt x="157163" y="85725"/>
                </a:lnTo>
                <a:cubicBezTo>
                  <a:pt x="149260" y="85725"/>
                  <a:pt x="142875" y="79340"/>
                  <a:pt x="142875" y="71438"/>
                </a:cubicBezTo>
                <a:cubicBezTo>
                  <a:pt x="142875" y="63535"/>
                  <a:pt x="149260" y="57150"/>
                  <a:pt x="157163" y="57150"/>
                </a:cubicBezTo>
                <a:lnTo>
                  <a:pt x="178549" y="57150"/>
                </a:lnTo>
                <a:lnTo>
                  <a:pt x="175156" y="53935"/>
                </a:lnTo>
                <a:cubicBezTo>
                  <a:pt x="175067" y="53846"/>
                  <a:pt x="174977" y="53757"/>
                  <a:pt x="174888" y="53667"/>
                </a:cubicBezTo>
                <a:cubicBezTo>
                  <a:pt x="141402" y="20181"/>
                  <a:pt x="87154" y="20181"/>
                  <a:pt x="53667" y="53667"/>
                </a:cubicBezTo>
                <a:cubicBezTo>
                  <a:pt x="20181" y="87154"/>
                  <a:pt x="20181" y="141402"/>
                  <a:pt x="53667" y="174888"/>
                </a:cubicBezTo>
                <a:cubicBezTo>
                  <a:pt x="87154" y="208374"/>
                  <a:pt x="141402" y="208374"/>
                  <a:pt x="174888" y="174888"/>
                </a:cubicBezTo>
                <a:cubicBezTo>
                  <a:pt x="178549" y="171227"/>
                  <a:pt x="181808" y="167342"/>
                  <a:pt x="184666" y="163235"/>
                </a:cubicBezTo>
                <a:cubicBezTo>
                  <a:pt x="189175" y="156761"/>
                  <a:pt x="198105" y="155198"/>
                  <a:pt x="204579" y="159707"/>
                </a:cubicBezTo>
                <a:cubicBezTo>
                  <a:pt x="211053" y="164217"/>
                  <a:pt x="212616" y="173147"/>
                  <a:pt x="208106" y="179621"/>
                </a:cubicBezTo>
                <a:cubicBezTo>
                  <a:pt x="204311" y="185068"/>
                  <a:pt x="199980" y="190247"/>
                  <a:pt x="195114" y="195114"/>
                </a:cubicBezTo>
                <a:cubicBezTo>
                  <a:pt x="150465" y="239762"/>
                  <a:pt x="78090" y="239762"/>
                  <a:pt x="33486" y="195114"/>
                </a:cubicBezTo>
                <a:cubicBezTo>
                  <a:pt x="-11117" y="150465"/>
                  <a:pt x="-11162" y="78135"/>
                  <a:pt x="33486" y="33486"/>
                </a:cubicBezTo>
                <a:cubicBezTo>
                  <a:pt x="78090" y="-11117"/>
                  <a:pt x="150331" y="-11162"/>
                  <a:pt x="194980" y="33352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7" name="Text 5"/>
          <p:cNvSpPr/>
          <p:nvPr/>
        </p:nvSpPr>
        <p:spPr>
          <a:xfrm>
            <a:off x="981075" y="1609725"/>
            <a:ext cx="236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TDD：红-绿-重构循环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0288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B2C36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93420" y="21050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FF6467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76325" y="2028825"/>
            <a:ext cx="31432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写一个失败的测试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6325" y="2257425"/>
            <a:ext cx="3133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先定义期望行为，测试必须失败，确认测试本身有效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81025" y="25241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00C950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93420" y="2600325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05DF72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绿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6325" y="252412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写最小代码通过测试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6325" y="27527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只写足够代码让测试通过，不追求完美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3019425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2B7FFF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15474" y="3095625"/>
            <a:ext cx="390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51A2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重构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76325" y="3019425"/>
            <a:ext cx="2343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优化代码结构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6325" y="3248025"/>
            <a:ext cx="2333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消除重复，提升可读性，保持测试通过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85763" y="3795713"/>
            <a:ext cx="5591175" cy="2371725"/>
          </a:xfrm>
          <a:prstGeom prst="roundRect">
            <a:avLst>
              <a:gd name="adj" fmla="val 321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8175" y="40290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0" y="28575"/>
                </a:moveTo>
                <a:cubicBezTo>
                  <a:pt x="0" y="12814"/>
                  <a:pt x="12814" y="0"/>
                  <a:pt x="28575" y="0"/>
                </a:cubicBezTo>
                <a:lnTo>
                  <a:pt x="95324" y="0"/>
                </a:lnTo>
                <a:cubicBezTo>
                  <a:pt x="102915" y="0"/>
                  <a:pt x="110192" y="2991"/>
                  <a:pt x="115550" y="8349"/>
                </a:cubicBezTo>
                <a:lnTo>
                  <a:pt x="163101" y="55944"/>
                </a:lnTo>
                <a:cubicBezTo>
                  <a:pt x="168459" y="61302"/>
                  <a:pt x="171450" y="68580"/>
                  <a:pt x="171450" y="76170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28575"/>
                </a:lnTo>
                <a:close/>
                <a:moveTo>
                  <a:pt x="92869" y="26119"/>
                </a:moveTo>
                <a:lnTo>
                  <a:pt x="92869" y="67866"/>
                </a:lnTo>
                <a:cubicBezTo>
                  <a:pt x="92869" y="73804"/>
                  <a:pt x="97646" y="78581"/>
                  <a:pt x="103584" y="78581"/>
                </a:cubicBezTo>
                <a:lnTo>
                  <a:pt x="145331" y="78581"/>
                </a:lnTo>
                <a:lnTo>
                  <a:pt x="92869" y="26119"/>
                </a:lnTo>
                <a:close/>
                <a:moveTo>
                  <a:pt x="53578" y="114300"/>
                </a:moveTo>
                <a:cubicBezTo>
                  <a:pt x="47640" y="114300"/>
                  <a:pt x="42863" y="119077"/>
                  <a:pt x="42863" y="125016"/>
                </a:cubicBezTo>
                <a:cubicBezTo>
                  <a:pt x="42863" y="130954"/>
                  <a:pt x="47640" y="135731"/>
                  <a:pt x="53578" y="135731"/>
                </a:cubicBezTo>
                <a:lnTo>
                  <a:pt x="117872" y="135731"/>
                </a:lnTo>
                <a:cubicBezTo>
                  <a:pt x="123810" y="135731"/>
                  <a:pt x="128588" y="130954"/>
                  <a:pt x="128588" y="125016"/>
                </a:cubicBezTo>
                <a:cubicBezTo>
                  <a:pt x="128588" y="119077"/>
                  <a:pt x="123810" y="114300"/>
                  <a:pt x="117872" y="114300"/>
                </a:cubicBezTo>
                <a:lnTo>
                  <a:pt x="53578" y="114300"/>
                </a:lnTo>
                <a:close/>
                <a:moveTo>
                  <a:pt x="53578" y="157163"/>
                </a:moveTo>
                <a:cubicBezTo>
                  <a:pt x="47640" y="157163"/>
                  <a:pt x="42863" y="161940"/>
                  <a:pt x="42863" y="167878"/>
                </a:cubicBezTo>
                <a:cubicBezTo>
                  <a:pt x="42863" y="173816"/>
                  <a:pt x="47640" y="178594"/>
                  <a:pt x="53578" y="178594"/>
                </a:cubicBezTo>
                <a:lnTo>
                  <a:pt x="117872" y="178594"/>
                </a:lnTo>
                <a:cubicBezTo>
                  <a:pt x="123810" y="178594"/>
                  <a:pt x="128588" y="173816"/>
                  <a:pt x="128588" y="167878"/>
                </a:cubicBezTo>
                <a:cubicBezTo>
                  <a:pt x="128588" y="161940"/>
                  <a:pt x="123810" y="157163"/>
                  <a:pt x="117872" y="157163"/>
                </a:cubicBezTo>
                <a:lnTo>
                  <a:pt x="53578" y="157163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22" name="Text 20"/>
          <p:cNvSpPr/>
          <p:nvPr/>
        </p:nvSpPr>
        <p:spPr>
          <a:xfrm>
            <a:off x="981075" y="3990975"/>
            <a:ext cx="19335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SDD：规范即真相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81025" y="4410075"/>
            <a:ext cx="5276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规范驱动开发（SDD）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以结构化规范文档为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唯一真相源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，驱动设计、实现、测试与部署。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81025" y="5019675"/>
            <a:ext cx="5200650" cy="952500"/>
          </a:xfrm>
          <a:prstGeom prst="roundRect">
            <a:avLst>
              <a:gd name="adj" fmla="val 4000"/>
            </a:avLst>
          </a:prstGeom>
          <a:solidFill>
            <a:srgbClr val="0F1115"/>
          </a:solidFill>
          <a:ln/>
        </p:spPr>
      </p:sp>
      <p:sp>
        <p:nvSpPr>
          <p:cNvPr id="25" name="Text 23"/>
          <p:cNvSpPr/>
          <p:nvPr/>
        </p:nvSpPr>
        <p:spPr>
          <a:xfrm>
            <a:off x="695325" y="513397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消除歧义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：将模糊需求转化为精确逻辑描述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95325" y="540067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AI 导航图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：为 AI 提供清晰上下文约束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95325" y="5667375"/>
            <a:ext cx="503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活文档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：规范随代码演进，始终保持一致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215063" y="1414463"/>
            <a:ext cx="5591175" cy="2905125"/>
          </a:xfrm>
          <a:prstGeom prst="roundRect">
            <a:avLst>
              <a:gd name="adj" fmla="val 262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38900" y="16478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35719"/>
                </a:moveTo>
                <a:cubicBezTo>
                  <a:pt x="0" y="23887"/>
                  <a:pt x="9599" y="14288"/>
                  <a:pt x="21431" y="14288"/>
                </a:cubicBezTo>
                <a:lnTo>
                  <a:pt x="64294" y="14288"/>
                </a:lnTo>
                <a:cubicBezTo>
                  <a:pt x="76126" y="14288"/>
                  <a:pt x="85725" y="23887"/>
                  <a:pt x="85725" y="35719"/>
                </a:cubicBezTo>
                <a:lnTo>
                  <a:pt x="85725" y="42863"/>
                </a:lnTo>
                <a:lnTo>
                  <a:pt x="142875" y="42863"/>
                </a:lnTo>
                <a:lnTo>
                  <a:pt x="142875" y="35719"/>
                </a:lnTo>
                <a:cubicBezTo>
                  <a:pt x="142875" y="23887"/>
                  <a:pt x="152474" y="14288"/>
                  <a:pt x="164306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78581"/>
                </a:lnTo>
                <a:cubicBezTo>
                  <a:pt x="228600" y="90413"/>
                  <a:pt x="219001" y="100013"/>
                  <a:pt x="207169" y="100013"/>
                </a:cubicBezTo>
                <a:lnTo>
                  <a:pt x="164306" y="100013"/>
                </a:lnTo>
                <a:cubicBezTo>
                  <a:pt x="152474" y="100013"/>
                  <a:pt x="142875" y="90413"/>
                  <a:pt x="142875" y="78581"/>
                </a:cubicBezTo>
                <a:lnTo>
                  <a:pt x="142875" y="71438"/>
                </a:lnTo>
                <a:lnTo>
                  <a:pt x="85725" y="71438"/>
                </a:lnTo>
                <a:lnTo>
                  <a:pt x="85725" y="78581"/>
                </a:lnTo>
                <a:cubicBezTo>
                  <a:pt x="85725" y="81841"/>
                  <a:pt x="84966" y="84966"/>
                  <a:pt x="83671" y="87734"/>
                </a:cubicBezTo>
                <a:lnTo>
                  <a:pt x="114300" y="128588"/>
                </a:lnTo>
                <a:lnTo>
                  <a:pt x="150019" y="128588"/>
                </a:lnTo>
                <a:cubicBezTo>
                  <a:pt x="161851" y="128588"/>
                  <a:pt x="171450" y="138187"/>
                  <a:pt x="171450" y="150019"/>
                </a:cubicBezTo>
                <a:lnTo>
                  <a:pt x="171450" y="192881"/>
                </a:lnTo>
                <a:cubicBezTo>
                  <a:pt x="171450" y="204713"/>
                  <a:pt x="161851" y="214313"/>
                  <a:pt x="150019" y="214313"/>
                </a:cubicBezTo>
                <a:lnTo>
                  <a:pt x="107156" y="214313"/>
                </a:lnTo>
                <a:cubicBezTo>
                  <a:pt x="95324" y="214313"/>
                  <a:pt x="85725" y="204713"/>
                  <a:pt x="85725" y="192881"/>
                </a:cubicBezTo>
                <a:lnTo>
                  <a:pt x="85725" y="150019"/>
                </a:lnTo>
                <a:cubicBezTo>
                  <a:pt x="85725" y="146759"/>
                  <a:pt x="86484" y="143634"/>
                  <a:pt x="87779" y="140866"/>
                </a:cubicBezTo>
                <a:lnTo>
                  <a:pt x="57150" y="100013"/>
                </a:lnTo>
                <a:lnTo>
                  <a:pt x="21431" y="100013"/>
                </a:lnTo>
                <a:cubicBezTo>
                  <a:pt x="9599" y="100013"/>
                  <a:pt x="0" y="90413"/>
                  <a:pt x="0" y="78581"/>
                </a:cubicBezTo>
                <a:lnTo>
                  <a:pt x="0" y="35719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30" name="Text 28"/>
          <p:cNvSpPr/>
          <p:nvPr/>
        </p:nvSpPr>
        <p:spPr>
          <a:xfrm>
            <a:off x="6810375" y="1609725"/>
            <a:ext cx="25622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TDD 与 SDD 的协同关系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410325" y="2066925"/>
            <a:ext cx="5200650" cy="800100"/>
          </a:xfrm>
          <a:prstGeom prst="roundRect">
            <a:avLst>
              <a:gd name="adj" fmla="val 9524"/>
            </a:avLst>
          </a:prstGeom>
          <a:solidFill>
            <a:srgbClr val="0F1115"/>
          </a:solidFill>
          <a:ln/>
        </p:spPr>
      </p:sp>
      <p:sp>
        <p:nvSpPr>
          <p:cNvPr id="32" name="Text 30"/>
          <p:cNvSpPr/>
          <p:nvPr/>
        </p:nvSpPr>
        <p:spPr>
          <a:xfrm>
            <a:off x="6562725" y="2219325"/>
            <a:ext cx="40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SDD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734675" y="2219325"/>
            <a:ext cx="723900" cy="228600"/>
          </a:xfrm>
          <a:prstGeom prst="roundRect">
            <a:avLst>
              <a:gd name="adj" fmla="val 16667"/>
            </a:avLst>
          </a:prstGeom>
          <a:solidFill>
            <a:srgbClr val="80ED99">
              <a:alpha val="2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734675" y="2219325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系统级规范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562725" y="2524125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定义系统级规范，管理结构化Spec，提供统一规范底座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924925" y="298132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75634" y="224403"/>
                </a:moveTo>
                <a:cubicBezTo>
                  <a:pt x="81216" y="229984"/>
                  <a:pt x="90279" y="229984"/>
                  <a:pt x="95860" y="224403"/>
                </a:cubicBezTo>
                <a:lnTo>
                  <a:pt x="167298" y="152966"/>
                </a:lnTo>
                <a:cubicBezTo>
                  <a:pt x="172879" y="147384"/>
                  <a:pt x="172879" y="138321"/>
                  <a:pt x="167298" y="132740"/>
                </a:cubicBezTo>
                <a:cubicBezTo>
                  <a:pt x="161717" y="127159"/>
                  <a:pt x="152653" y="127159"/>
                  <a:pt x="147072" y="132740"/>
                </a:cubicBezTo>
                <a:lnTo>
                  <a:pt x="100013" y="179799"/>
                </a:lnTo>
                <a:lnTo>
                  <a:pt x="100013" y="14288"/>
                </a:lnTo>
                <a:cubicBezTo>
                  <a:pt x="100013" y="6385"/>
                  <a:pt x="93628" y="0"/>
                  <a:pt x="85725" y="0"/>
                </a:cubicBezTo>
                <a:cubicBezTo>
                  <a:pt x="77822" y="0"/>
                  <a:pt x="71438" y="6385"/>
                  <a:pt x="71438" y="14288"/>
                </a:cubicBezTo>
                <a:lnTo>
                  <a:pt x="71438" y="179799"/>
                </a:lnTo>
                <a:lnTo>
                  <a:pt x="24378" y="132740"/>
                </a:lnTo>
                <a:cubicBezTo>
                  <a:pt x="18797" y="127159"/>
                  <a:pt x="9733" y="127159"/>
                  <a:pt x="4152" y="132740"/>
                </a:cubicBezTo>
                <a:cubicBezTo>
                  <a:pt x="-1429" y="138321"/>
                  <a:pt x="-1429" y="147384"/>
                  <a:pt x="4152" y="152966"/>
                </a:cubicBezTo>
                <a:lnTo>
                  <a:pt x="75590" y="224403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7" name="Shape 35"/>
          <p:cNvSpPr/>
          <p:nvPr/>
        </p:nvSpPr>
        <p:spPr>
          <a:xfrm>
            <a:off x="6410325" y="3324225"/>
            <a:ext cx="5200650" cy="800100"/>
          </a:xfrm>
          <a:prstGeom prst="roundRect">
            <a:avLst>
              <a:gd name="adj" fmla="val 9524"/>
            </a:avLst>
          </a:prstGeom>
          <a:solidFill>
            <a:srgbClr val="0F1115"/>
          </a:solidFill>
          <a:ln/>
        </p:spPr>
      </p:sp>
      <p:sp>
        <p:nvSpPr>
          <p:cNvPr id="38" name="Text 36"/>
          <p:cNvSpPr/>
          <p:nvPr/>
        </p:nvSpPr>
        <p:spPr>
          <a:xfrm>
            <a:off x="6562725" y="3476625"/>
            <a:ext cx="400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TDD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0734675" y="3476625"/>
            <a:ext cx="723900" cy="228600"/>
          </a:xfrm>
          <a:prstGeom prst="roundRect">
            <a:avLst>
              <a:gd name="adj" fmla="val 16667"/>
            </a:avLst>
          </a:prstGeom>
          <a:solidFill>
            <a:srgbClr val="38A3A5">
              <a:alpha val="2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734675" y="3476625"/>
            <a:ext cx="7810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代码级验证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562725" y="3781425"/>
            <a:ext cx="4962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在代码层面验证规范，确保每个函数符合微规范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215063" y="4481513"/>
            <a:ext cx="5591175" cy="1057275"/>
          </a:xfrm>
          <a:prstGeom prst="roundRect">
            <a:avLst>
              <a:gd name="adj" fmla="val 7207"/>
            </a:avLst>
          </a:prstGeom>
          <a:solidFill>
            <a:srgbClr val="80ED99">
              <a:alpha val="10196"/>
            </a:srgbClr>
          </a:solidFill>
          <a:ln w="12700">
            <a:solidFill>
              <a:srgbClr val="80ED99">
                <a:alpha val="5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10325" y="4681538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44" name="Text 42"/>
          <p:cNvSpPr/>
          <p:nvPr/>
        </p:nvSpPr>
        <p:spPr>
          <a:xfrm>
            <a:off x="6682899" y="4648200"/>
            <a:ext cx="101250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融合实践闭环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6372225" y="4943475"/>
            <a:ext cx="5343525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规范定义 → AI生成代码 → 自动测试验证 → 反馈改进规范。人类角色从"写代码"转变为"定义规范与监督质量"。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TESTING &amp; EFFICIENCY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如何写好测试：超越单元测试的测试策略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14463"/>
            <a:ext cx="6772275" cy="2943225"/>
          </a:xfrm>
          <a:prstGeom prst="roundRect">
            <a:avLst>
              <a:gd name="adj" fmla="val 2589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1025" y="1609725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测试金字塔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867025" y="2038350"/>
            <a:ext cx="1809750" cy="742950"/>
          </a:xfrm>
          <a:custGeom>
            <a:avLst/>
            <a:gdLst/>
            <a:ahLst/>
            <a:cxnLst/>
            <a:rect l="l" t="t" r="r" b="b"/>
            <a:pathLst>
              <a:path w="1809750" h="742950">
                <a:moveTo>
                  <a:pt x="76200" y="0"/>
                </a:moveTo>
                <a:lnTo>
                  <a:pt x="1733550" y="0"/>
                </a:lnTo>
                <a:cubicBezTo>
                  <a:pt x="1775606" y="0"/>
                  <a:pt x="1809750" y="34144"/>
                  <a:pt x="1809750" y="76200"/>
                </a:cubicBezTo>
                <a:lnTo>
                  <a:pt x="1809750" y="742950"/>
                </a:lnTo>
                <a:lnTo>
                  <a:pt x="0" y="742950"/>
                </a:ln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A3A5">
              <a:alpha val="30196"/>
            </a:srgbClr>
          </a:solidFill>
          <a:ln w="25400">
            <a:solidFill>
              <a:srgbClr val="38A3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20561" y="2276475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 70%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171825" y="2800350"/>
            <a:ext cx="1200150" cy="590550"/>
          </a:xfrm>
          <a:prstGeom prst="roundRect">
            <a:avLst>
              <a:gd name="adj" fmla="val 0"/>
            </a:avLst>
          </a:prstGeom>
          <a:solidFill>
            <a:srgbClr val="80ED99">
              <a:alpha val="30196"/>
            </a:srgbClr>
          </a:solidFill>
          <a:ln w="25400">
            <a:solidFill>
              <a:srgbClr val="80ED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77394" y="2981325"/>
            <a:ext cx="106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集成测试 20%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476625" y="3409950"/>
            <a:ext cx="590550" cy="438150"/>
          </a:xfrm>
          <a:custGeom>
            <a:avLst/>
            <a:gdLst/>
            <a:ahLst/>
            <a:cxnLst/>
            <a:rect l="l" t="t" r="r" b="b"/>
            <a:pathLst>
              <a:path w="590550" h="438150">
                <a:moveTo>
                  <a:pt x="0" y="0"/>
                </a:moveTo>
                <a:lnTo>
                  <a:pt x="590550" y="0"/>
                </a:lnTo>
                <a:lnTo>
                  <a:pt x="590550" y="361950"/>
                </a:lnTo>
                <a:cubicBezTo>
                  <a:pt x="590550" y="404006"/>
                  <a:pt x="556406" y="438150"/>
                  <a:pt x="514350" y="438150"/>
                </a:cubicBezTo>
                <a:lnTo>
                  <a:pt x="76200" y="438150"/>
                </a:lnTo>
                <a:cubicBezTo>
                  <a:pt x="34144" y="438150"/>
                  <a:pt x="0" y="404006"/>
                  <a:pt x="0" y="361950"/>
                </a:cubicBezTo>
                <a:lnTo>
                  <a:pt x="0" y="0"/>
                </a:lnTo>
                <a:close/>
              </a:path>
            </a:pathLst>
          </a:custGeom>
          <a:solidFill>
            <a:srgbClr val="22577A">
              <a:alpha val="50196"/>
            </a:srgbClr>
          </a:solidFill>
          <a:ln w="25400">
            <a:solidFill>
              <a:srgbClr val="2257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1866" y="3533775"/>
            <a:ext cx="60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E2E 10%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7688" y="3971925"/>
            <a:ext cx="64484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底层测试快速反馈，上层测试保障用户场景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85763" y="4519613"/>
            <a:ext cx="6772275" cy="2257425"/>
          </a:xfrm>
          <a:prstGeom prst="roundRect">
            <a:avLst>
              <a:gd name="adj" fmla="val 3376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1025" y="4714875"/>
            <a:ext cx="64770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可注入的测试设计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5095875"/>
            <a:ext cx="31337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17" name="Text 15"/>
          <p:cNvSpPr/>
          <p:nvPr/>
        </p:nvSpPr>
        <p:spPr>
          <a:xfrm>
            <a:off x="695325" y="521017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依赖注入（DI）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325" y="54768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通过构造函数注入依赖，便于替换为Mock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829050" y="5095875"/>
            <a:ext cx="31337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20" name="Text 18"/>
          <p:cNvSpPr/>
          <p:nvPr/>
        </p:nvSpPr>
        <p:spPr>
          <a:xfrm>
            <a:off x="3943350" y="521017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Mock/Stub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943350" y="54768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隔离外部依赖（DB、API、文件系统）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81025" y="5895975"/>
            <a:ext cx="31337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23" name="Text 21"/>
          <p:cNvSpPr/>
          <p:nvPr/>
        </p:nvSpPr>
        <p:spPr>
          <a:xfrm>
            <a:off x="695325" y="601027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接口抽象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95325" y="62769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面向接口编程，实现可替换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829050" y="5895975"/>
            <a:ext cx="31337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26" name="Text 24"/>
          <p:cNvSpPr/>
          <p:nvPr/>
        </p:nvSpPr>
        <p:spPr>
          <a:xfrm>
            <a:off x="3943350" y="6010275"/>
            <a:ext cx="2981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副作用隔离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43350" y="6276975"/>
            <a:ext cx="2971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纯函数易于测试，副作用集中管理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58063" y="1414463"/>
            <a:ext cx="4448175" cy="4010025"/>
          </a:xfrm>
          <a:prstGeom prst="roundRect">
            <a:avLst>
              <a:gd name="adj" fmla="val 1900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53325" y="1609725"/>
            <a:ext cx="4152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测试层次详解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572375" y="2028825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38100" y="0"/>
                </a:moveTo>
                <a:lnTo>
                  <a:pt x="3962400" y="0"/>
                </a:lnTo>
                <a:cubicBezTo>
                  <a:pt x="4004456" y="0"/>
                  <a:pt x="4038600" y="34144"/>
                  <a:pt x="4038600" y="76200"/>
                </a:cubicBezTo>
                <a:lnTo>
                  <a:pt x="4038600" y="914400"/>
                </a:lnTo>
                <a:cubicBezTo>
                  <a:pt x="4038600" y="956456"/>
                  <a:pt x="4004456" y="990600"/>
                  <a:pt x="3962400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31" name="Shape 29"/>
          <p:cNvSpPr/>
          <p:nvPr/>
        </p:nvSpPr>
        <p:spPr>
          <a:xfrm>
            <a:off x="7572375" y="202882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2" name="Text 30"/>
          <p:cNvSpPr/>
          <p:nvPr/>
        </p:nvSpPr>
        <p:spPr>
          <a:xfrm>
            <a:off x="7705725" y="2143125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705725" y="2409825"/>
            <a:ext cx="385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函数/类级别，验证最小行为单元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7705725" y="2676525"/>
            <a:ext cx="381000" cy="228600"/>
          </a:xfrm>
          <a:prstGeom prst="roundRect">
            <a:avLst>
              <a:gd name="adj" fmla="val 16667"/>
            </a:avLst>
          </a:prstGeom>
          <a:solidFill>
            <a:srgbClr val="38A3A5">
              <a:alpha val="2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05725" y="26765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62925" y="2676525"/>
            <a:ext cx="381000" cy="228600"/>
          </a:xfrm>
          <a:prstGeom prst="roundRect">
            <a:avLst>
              <a:gd name="adj" fmla="val 16667"/>
            </a:avLst>
          </a:prstGeom>
          <a:solidFill>
            <a:srgbClr val="38A3A5">
              <a:alpha val="20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8162925" y="2676525"/>
            <a:ext cx="4381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独立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620125" y="2676525"/>
            <a:ext cx="495300" cy="228600"/>
          </a:xfrm>
          <a:prstGeom prst="roundRect">
            <a:avLst>
              <a:gd name="adj" fmla="val 16667"/>
            </a:avLst>
          </a:prstGeom>
          <a:solidFill>
            <a:srgbClr val="38A3A5">
              <a:alpha val="2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8620125" y="2676525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确定性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572375" y="3133725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38100" y="0"/>
                </a:moveTo>
                <a:lnTo>
                  <a:pt x="3962400" y="0"/>
                </a:lnTo>
                <a:cubicBezTo>
                  <a:pt x="4004456" y="0"/>
                  <a:pt x="4038600" y="34144"/>
                  <a:pt x="4038600" y="76200"/>
                </a:cubicBezTo>
                <a:lnTo>
                  <a:pt x="4038600" y="914400"/>
                </a:lnTo>
                <a:cubicBezTo>
                  <a:pt x="4038600" y="956456"/>
                  <a:pt x="4004456" y="990600"/>
                  <a:pt x="3962400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41" name="Shape 39"/>
          <p:cNvSpPr/>
          <p:nvPr/>
        </p:nvSpPr>
        <p:spPr>
          <a:xfrm>
            <a:off x="7572375" y="313372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42" name="Text 40"/>
          <p:cNvSpPr/>
          <p:nvPr/>
        </p:nvSpPr>
        <p:spPr>
          <a:xfrm>
            <a:off x="7705725" y="3248025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集成测试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7705725" y="3514725"/>
            <a:ext cx="385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模块间交互，验证接口契约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05725" y="3781425"/>
            <a:ext cx="609600" cy="228600"/>
          </a:xfrm>
          <a:prstGeom prst="roundRect">
            <a:avLst>
              <a:gd name="adj" fmla="val 16667"/>
            </a:avLst>
          </a:prstGeom>
          <a:solidFill>
            <a:srgbClr val="80ED99">
              <a:alpha val="20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7705725" y="3781425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接口契约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91525" y="3781425"/>
            <a:ext cx="495300" cy="228600"/>
          </a:xfrm>
          <a:prstGeom prst="roundRect">
            <a:avLst>
              <a:gd name="adj" fmla="val 16667"/>
            </a:avLst>
          </a:prstGeom>
          <a:solidFill>
            <a:srgbClr val="80ED99">
              <a:alpha val="20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8391525" y="3781425"/>
            <a:ext cx="5524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数据流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572375" y="4238625"/>
            <a:ext cx="4038600" cy="990600"/>
          </a:xfrm>
          <a:custGeom>
            <a:avLst/>
            <a:gdLst/>
            <a:ahLst/>
            <a:cxnLst/>
            <a:rect l="l" t="t" r="r" b="b"/>
            <a:pathLst>
              <a:path w="4038600" h="990600">
                <a:moveTo>
                  <a:pt x="38100" y="0"/>
                </a:moveTo>
                <a:lnTo>
                  <a:pt x="3962400" y="0"/>
                </a:lnTo>
                <a:cubicBezTo>
                  <a:pt x="4004456" y="0"/>
                  <a:pt x="4038600" y="34144"/>
                  <a:pt x="4038600" y="76200"/>
                </a:cubicBezTo>
                <a:lnTo>
                  <a:pt x="4038600" y="914400"/>
                </a:lnTo>
                <a:cubicBezTo>
                  <a:pt x="4038600" y="956456"/>
                  <a:pt x="4004456" y="990600"/>
                  <a:pt x="3962400" y="990600"/>
                </a:cubicBez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49" name="Shape 47"/>
          <p:cNvSpPr/>
          <p:nvPr/>
        </p:nvSpPr>
        <p:spPr>
          <a:xfrm>
            <a:off x="7572375" y="4238625"/>
            <a:ext cx="38100" cy="990600"/>
          </a:xfrm>
          <a:custGeom>
            <a:avLst/>
            <a:gdLst/>
            <a:ahLst/>
            <a:cxnLst/>
            <a:rect l="l" t="t" r="r" b="b"/>
            <a:pathLst>
              <a:path w="38100" h="990600">
                <a:moveTo>
                  <a:pt x="38100" y="0"/>
                </a:moveTo>
                <a:lnTo>
                  <a:pt x="38100" y="0"/>
                </a:lnTo>
                <a:lnTo>
                  <a:pt x="38100" y="990600"/>
                </a:lnTo>
                <a:lnTo>
                  <a:pt x="38100" y="990600"/>
                </a:lnTo>
                <a:cubicBezTo>
                  <a:pt x="17072" y="990600"/>
                  <a:pt x="0" y="973528"/>
                  <a:pt x="0" y="9525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2577A"/>
          </a:solidFill>
          <a:ln/>
        </p:spPr>
      </p:sp>
      <p:sp>
        <p:nvSpPr>
          <p:cNvPr id="50" name="Text 48"/>
          <p:cNvSpPr/>
          <p:nvPr/>
        </p:nvSpPr>
        <p:spPr>
          <a:xfrm>
            <a:off x="7705725" y="4352925"/>
            <a:ext cx="386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端到端测试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705725" y="4619625"/>
            <a:ext cx="3857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用户场景，保障核心路径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7705725" y="4886325"/>
            <a:ext cx="609600" cy="228600"/>
          </a:xfrm>
          <a:prstGeom prst="roundRect">
            <a:avLst>
              <a:gd name="adj" fmla="val 16667"/>
            </a:avLst>
          </a:prstGeom>
          <a:solidFill>
            <a:srgbClr val="22577A">
              <a:alpha val="40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7705725" y="4886325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用户旅程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91525" y="4886325"/>
            <a:ext cx="609600" cy="228600"/>
          </a:xfrm>
          <a:prstGeom prst="roundRect">
            <a:avLst>
              <a:gd name="adj" fmla="val 16667"/>
            </a:avLst>
          </a:prstGeom>
          <a:solidFill>
            <a:srgbClr val="22577A">
              <a:alpha val="40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391525" y="4886325"/>
            <a:ext cx="666750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关键路径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358063" y="5586413"/>
            <a:ext cx="4448175" cy="771525"/>
          </a:xfrm>
          <a:prstGeom prst="roundRect">
            <a:avLst>
              <a:gd name="adj" fmla="val 9877"/>
            </a:avLst>
          </a:prstGeom>
          <a:solidFill>
            <a:srgbClr val="80ED99">
              <a:alpha val="10196"/>
            </a:srgbClr>
          </a:solidFill>
          <a:ln w="12700">
            <a:solidFill>
              <a:srgbClr val="80ED99">
                <a:alpha val="50196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43800" y="5786438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58" name="Text 56"/>
          <p:cNvSpPr/>
          <p:nvPr/>
        </p:nvSpPr>
        <p:spPr>
          <a:xfrm>
            <a:off x="7762875" y="5743575"/>
            <a:ext cx="396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测试即文档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：好的测试用例描述系统的行为契约，是活文档。测试代码应该像故事一样可读。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120" kern="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TESTING &amp; EFFICIENCY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858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CI 效率优化：让流水线飞起来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181100"/>
            <a:ext cx="762000" cy="3810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5" name="Shape 3"/>
          <p:cNvSpPr/>
          <p:nvPr/>
        </p:nvSpPr>
        <p:spPr>
          <a:xfrm>
            <a:off x="385763" y="1414463"/>
            <a:ext cx="3676650" cy="4391025"/>
          </a:xfrm>
          <a:prstGeom prst="roundRect">
            <a:avLst>
              <a:gd name="adj" fmla="val 207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3888" y="162877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7" name="Text 5"/>
          <p:cNvSpPr/>
          <p:nvPr/>
        </p:nvSpPr>
        <p:spPr>
          <a:xfrm>
            <a:off x="981075" y="16097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缓存策略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81025" y="2028825"/>
            <a:ext cx="3286125" cy="1219200"/>
          </a:xfrm>
          <a:prstGeom prst="roundRect">
            <a:avLst>
              <a:gd name="adj" fmla="val 3125"/>
            </a:avLst>
          </a:prstGeom>
          <a:solidFill>
            <a:srgbClr val="0F1115"/>
          </a:solidFill>
          <a:ln/>
        </p:spPr>
      </p:sp>
      <p:sp>
        <p:nvSpPr>
          <p:cNvPr id="9" name="Text 7"/>
          <p:cNvSpPr/>
          <p:nvPr/>
        </p:nvSpPr>
        <p:spPr>
          <a:xfrm>
            <a:off x="695325" y="2143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依赖缓存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5325" y="2409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 lock 文件生成缓存键，依赖变更时自动失效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95325" y="2676525"/>
            <a:ext cx="3057525" cy="457200"/>
          </a:xfrm>
          <a:prstGeom prst="roundRect">
            <a:avLst>
              <a:gd name="adj" fmla="val 8333"/>
            </a:avLst>
          </a:prstGeom>
          <a:solidFill>
            <a:srgbClr val="22577A">
              <a:alpha val="30196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71525" y="2752725"/>
            <a:ext cx="29622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key: ${{ hashFiles('**/package-lock.json') }}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1025" y="33623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14" name="Text 12"/>
          <p:cNvSpPr/>
          <p:nvPr/>
        </p:nvSpPr>
        <p:spPr>
          <a:xfrm>
            <a:off x="695325" y="34766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构建缓存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5325" y="37433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layer caching、BuildKit cache mount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81025" y="41624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17" name="Text 15"/>
          <p:cNvSpPr/>
          <p:nvPr/>
        </p:nvSpPr>
        <p:spPr>
          <a:xfrm>
            <a:off x="695325" y="42767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Lint 缓存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95325" y="45434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增量检查，仅检查变更文件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81025" y="4962525"/>
            <a:ext cx="3286125" cy="419100"/>
          </a:xfrm>
          <a:prstGeom prst="roundRect">
            <a:avLst>
              <a:gd name="adj" fmla="val 9091"/>
            </a:avLst>
          </a:prstGeom>
          <a:solidFill>
            <a:srgbClr val="38A3A5">
              <a:alpha val="10196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14375" y="51101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21" name="Text 19"/>
          <p:cNvSpPr/>
          <p:nvPr/>
        </p:nvSpPr>
        <p:spPr>
          <a:xfrm>
            <a:off x="895350" y="507682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效果：依赖安装时间减少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70-80%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259263" y="1414463"/>
            <a:ext cx="3676650" cy="4391025"/>
          </a:xfrm>
          <a:prstGeom prst="roundRect">
            <a:avLst>
              <a:gd name="adj" fmla="val 207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83100" y="162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0" y="42863"/>
                </a:moveTo>
                <a:cubicBezTo>
                  <a:pt x="0" y="34960"/>
                  <a:pt x="6385" y="28575"/>
                  <a:pt x="14288" y="28575"/>
                </a:cubicBezTo>
                <a:lnTo>
                  <a:pt x="185738" y="28575"/>
                </a:lnTo>
                <a:cubicBezTo>
                  <a:pt x="193640" y="28575"/>
                  <a:pt x="200025" y="34960"/>
                  <a:pt x="200025" y="42863"/>
                </a:cubicBezTo>
                <a:cubicBezTo>
                  <a:pt x="200025" y="50765"/>
                  <a:pt x="193640" y="57150"/>
                  <a:pt x="185738" y="57150"/>
                </a:cubicBezTo>
                <a:lnTo>
                  <a:pt x="14288" y="57150"/>
                </a:lnTo>
                <a:cubicBezTo>
                  <a:pt x="6385" y="57150"/>
                  <a:pt x="0" y="50765"/>
                  <a:pt x="0" y="42863"/>
                </a:cubicBezTo>
                <a:close/>
                <a:moveTo>
                  <a:pt x="28575" y="114300"/>
                </a:moveTo>
                <a:cubicBezTo>
                  <a:pt x="28575" y="106397"/>
                  <a:pt x="34960" y="100013"/>
                  <a:pt x="42863" y="100013"/>
                </a:cubicBezTo>
                <a:lnTo>
                  <a:pt x="214313" y="100013"/>
                </a:lnTo>
                <a:cubicBezTo>
                  <a:pt x="222215" y="100013"/>
                  <a:pt x="228600" y="106397"/>
                  <a:pt x="228600" y="114300"/>
                </a:cubicBezTo>
                <a:cubicBezTo>
                  <a:pt x="228600" y="122203"/>
                  <a:pt x="222215" y="128588"/>
                  <a:pt x="214313" y="128588"/>
                </a:cubicBezTo>
                <a:lnTo>
                  <a:pt x="42863" y="128588"/>
                </a:lnTo>
                <a:cubicBezTo>
                  <a:pt x="34960" y="128588"/>
                  <a:pt x="28575" y="122203"/>
                  <a:pt x="28575" y="114300"/>
                </a:cubicBezTo>
                <a:close/>
                <a:moveTo>
                  <a:pt x="200025" y="185738"/>
                </a:moveTo>
                <a:cubicBezTo>
                  <a:pt x="200025" y="193640"/>
                  <a:pt x="193640" y="200025"/>
                  <a:pt x="185738" y="200025"/>
                </a:cubicBezTo>
                <a:lnTo>
                  <a:pt x="14288" y="200025"/>
                </a:lnTo>
                <a:cubicBezTo>
                  <a:pt x="6385" y="200025"/>
                  <a:pt x="0" y="193640"/>
                  <a:pt x="0" y="185738"/>
                </a:cubicBezTo>
                <a:cubicBezTo>
                  <a:pt x="0" y="177835"/>
                  <a:pt x="6385" y="171450"/>
                  <a:pt x="14288" y="171450"/>
                </a:cubicBezTo>
                <a:lnTo>
                  <a:pt x="185738" y="171450"/>
                </a:lnTo>
                <a:cubicBezTo>
                  <a:pt x="193640" y="171450"/>
                  <a:pt x="200025" y="177835"/>
                  <a:pt x="200025" y="185738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24" name="Text 22"/>
          <p:cNvSpPr/>
          <p:nvPr/>
        </p:nvSpPr>
        <p:spPr>
          <a:xfrm>
            <a:off x="4854575" y="1609725"/>
            <a:ext cx="1285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Pipeline 划分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54525" y="2028825"/>
            <a:ext cx="3286125" cy="1066800"/>
          </a:xfrm>
          <a:prstGeom prst="roundRect">
            <a:avLst>
              <a:gd name="adj" fmla="val 3571"/>
            </a:avLst>
          </a:prstGeom>
          <a:solidFill>
            <a:srgbClr val="0F1115"/>
          </a:solidFill>
          <a:ln/>
        </p:spPr>
      </p:sp>
      <p:sp>
        <p:nvSpPr>
          <p:cNvPr id="26" name="Text 24"/>
          <p:cNvSpPr/>
          <p:nvPr/>
        </p:nvSpPr>
        <p:spPr>
          <a:xfrm>
            <a:off x="4568825" y="2143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并行化独立任务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68825" y="2409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单元测试、Lint、构建可并行执行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68825" y="2676525"/>
            <a:ext cx="971550" cy="304800"/>
          </a:xfrm>
          <a:prstGeom prst="roundRect">
            <a:avLst>
              <a:gd name="adj" fmla="val 12500"/>
            </a:avLst>
          </a:prstGeom>
          <a:solidFill>
            <a:srgbClr val="38A3A5">
              <a:alpha val="30196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4540250" y="26765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单元测试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612289" y="2676525"/>
            <a:ext cx="971550" cy="304800"/>
          </a:xfrm>
          <a:prstGeom prst="roundRect">
            <a:avLst>
              <a:gd name="adj" fmla="val 12500"/>
            </a:avLst>
          </a:prstGeom>
          <a:solidFill>
            <a:srgbClr val="38A3A5">
              <a:alpha val="30196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5583714" y="26765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Lint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655911" y="2676525"/>
            <a:ext cx="971550" cy="304800"/>
          </a:xfrm>
          <a:prstGeom prst="roundRect">
            <a:avLst>
              <a:gd name="adj" fmla="val 12500"/>
            </a:avLst>
          </a:prstGeom>
          <a:solidFill>
            <a:srgbClr val="38A3A5">
              <a:alpha val="30196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6627336" y="2676525"/>
            <a:ext cx="102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54525" y="3209925"/>
            <a:ext cx="3286125" cy="1066800"/>
          </a:xfrm>
          <a:prstGeom prst="roundRect">
            <a:avLst>
              <a:gd name="adj" fmla="val 3571"/>
            </a:avLst>
          </a:prstGeom>
          <a:solidFill>
            <a:srgbClr val="0F1115"/>
          </a:solidFill>
          <a:ln/>
        </p:spPr>
      </p:sp>
      <p:sp>
        <p:nvSpPr>
          <p:cNvPr id="35" name="Text 33"/>
          <p:cNvSpPr/>
          <p:nvPr/>
        </p:nvSpPr>
        <p:spPr>
          <a:xfrm>
            <a:off x="4568825" y="33242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阶段化依赖任务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68825" y="35909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 → 部署 → 验证的顺序执行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68825" y="3857625"/>
            <a:ext cx="790575" cy="304800"/>
          </a:xfrm>
          <a:prstGeom prst="roundRect">
            <a:avLst>
              <a:gd name="adj" fmla="val 12500"/>
            </a:avLst>
          </a:prstGeom>
          <a:solidFill>
            <a:srgbClr val="80ED99">
              <a:alpha val="30196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540250" y="3857625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构建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453539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0" name="Shape 38"/>
          <p:cNvSpPr/>
          <p:nvPr/>
        </p:nvSpPr>
        <p:spPr>
          <a:xfrm>
            <a:off x="5701189" y="3857625"/>
            <a:ext cx="790575" cy="304800"/>
          </a:xfrm>
          <a:prstGeom prst="roundRect">
            <a:avLst>
              <a:gd name="adj" fmla="val 12500"/>
            </a:avLst>
          </a:prstGeom>
          <a:solidFill>
            <a:srgbClr val="80ED99">
              <a:alpha val="30196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5672614" y="3857625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86061" y="3933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9602" y="82927"/>
                </a:moveTo>
                <a:cubicBezTo>
                  <a:pt x="153323" y="79206"/>
                  <a:pt x="153323" y="73164"/>
                  <a:pt x="149602" y="69443"/>
                </a:cubicBezTo>
                <a:lnTo>
                  <a:pt x="101977" y="21818"/>
                </a:lnTo>
                <a:cubicBezTo>
                  <a:pt x="98256" y="18098"/>
                  <a:pt x="92214" y="18098"/>
                  <a:pt x="88493" y="21818"/>
                </a:cubicBezTo>
                <a:cubicBezTo>
                  <a:pt x="84773" y="25539"/>
                  <a:pt x="84773" y="31581"/>
                  <a:pt x="88493" y="35302"/>
                </a:cubicBezTo>
                <a:lnTo>
                  <a:pt x="119866" y="66675"/>
                </a:lnTo>
                <a:lnTo>
                  <a:pt x="9525" y="66675"/>
                </a:lnTo>
                <a:cubicBezTo>
                  <a:pt x="4256" y="66675"/>
                  <a:pt x="0" y="70931"/>
                  <a:pt x="0" y="76200"/>
                </a:cubicBezTo>
                <a:cubicBezTo>
                  <a:pt x="0" y="81469"/>
                  <a:pt x="4256" y="85725"/>
                  <a:pt x="9525" y="85725"/>
                </a:cubicBezTo>
                <a:lnTo>
                  <a:pt x="119866" y="85725"/>
                </a:lnTo>
                <a:lnTo>
                  <a:pt x="88493" y="117098"/>
                </a:lnTo>
                <a:cubicBezTo>
                  <a:pt x="84772" y="120819"/>
                  <a:pt x="84772" y="126861"/>
                  <a:pt x="88493" y="130582"/>
                </a:cubicBezTo>
                <a:cubicBezTo>
                  <a:pt x="92214" y="134303"/>
                  <a:pt x="98256" y="134303"/>
                  <a:pt x="101977" y="130582"/>
                </a:cubicBezTo>
                <a:lnTo>
                  <a:pt x="149602" y="82957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3" name="Shape 41"/>
          <p:cNvSpPr/>
          <p:nvPr/>
        </p:nvSpPr>
        <p:spPr>
          <a:xfrm>
            <a:off x="6833711" y="3857625"/>
            <a:ext cx="790575" cy="304800"/>
          </a:xfrm>
          <a:prstGeom prst="roundRect">
            <a:avLst>
              <a:gd name="adj" fmla="val 12500"/>
            </a:avLst>
          </a:prstGeom>
          <a:solidFill>
            <a:srgbClr val="80ED99">
              <a:alpha val="30196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6805136" y="3857625"/>
            <a:ext cx="847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900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验证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454525" y="43910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46" name="Text 44"/>
          <p:cNvSpPr/>
          <p:nvPr/>
        </p:nvSpPr>
        <p:spPr>
          <a:xfrm>
            <a:off x="4568825" y="4505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关键路径优化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4568825" y="47720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先跑核心测试，快速失败，减少等待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132762" y="1414463"/>
            <a:ext cx="3676650" cy="4391025"/>
          </a:xfrm>
          <a:prstGeom prst="roundRect">
            <a:avLst>
              <a:gd name="adj" fmla="val 2073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356600" y="16287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42863"/>
                </a:moveTo>
                <a:lnTo>
                  <a:pt x="57150" y="35719"/>
                </a:lnTo>
                <a:cubicBezTo>
                  <a:pt x="57150" y="15984"/>
                  <a:pt x="95548" y="0"/>
                  <a:pt x="142875" y="0"/>
                </a:cubicBezTo>
                <a:cubicBezTo>
                  <a:pt x="190202" y="0"/>
                  <a:pt x="228600" y="15984"/>
                  <a:pt x="228600" y="35719"/>
                </a:cubicBezTo>
                <a:lnTo>
                  <a:pt x="228600" y="42863"/>
                </a:lnTo>
                <a:cubicBezTo>
                  <a:pt x="228600" y="56525"/>
                  <a:pt x="210160" y="68401"/>
                  <a:pt x="183059" y="74429"/>
                </a:cubicBezTo>
                <a:cubicBezTo>
                  <a:pt x="181987" y="73179"/>
                  <a:pt x="180871" y="71973"/>
                  <a:pt x="179755" y="70857"/>
                </a:cubicBezTo>
                <a:cubicBezTo>
                  <a:pt x="172834" y="64026"/>
                  <a:pt x="163904" y="58847"/>
                  <a:pt x="154573" y="55007"/>
                </a:cubicBezTo>
                <a:cubicBezTo>
                  <a:pt x="135865" y="47193"/>
                  <a:pt x="111487" y="42907"/>
                  <a:pt x="85725" y="42907"/>
                </a:cubicBezTo>
                <a:cubicBezTo>
                  <a:pt x="75947" y="42907"/>
                  <a:pt x="66392" y="43532"/>
                  <a:pt x="57239" y="44738"/>
                </a:cubicBezTo>
                <a:cubicBezTo>
                  <a:pt x="57150" y="44157"/>
                  <a:pt x="57150" y="43532"/>
                  <a:pt x="57150" y="42907"/>
                </a:cubicBezTo>
                <a:close/>
                <a:moveTo>
                  <a:pt x="192881" y="157609"/>
                </a:moveTo>
                <a:lnTo>
                  <a:pt x="192881" y="136981"/>
                </a:lnTo>
                <a:cubicBezTo>
                  <a:pt x="199623" y="135240"/>
                  <a:pt x="205963" y="133186"/>
                  <a:pt x="211723" y="130775"/>
                </a:cubicBezTo>
                <a:cubicBezTo>
                  <a:pt x="217616" y="128320"/>
                  <a:pt x="223376" y="125328"/>
                  <a:pt x="228600" y="121712"/>
                </a:cubicBezTo>
                <a:lnTo>
                  <a:pt x="228600" y="128588"/>
                </a:lnTo>
                <a:cubicBezTo>
                  <a:pt x="228600" y="140553"/>
                  <a:pt x="214536" y="151135"/>
                  <a:pt x="192881" y="157609"/>
                </a:cubicBezTo>
                <a:close/>
                <a:moveTo>
                  <a:pt x="192881" y="114746"/>
                </a:moveTo>
                <a:lnTo>
                  <a:pt x="192881" y="100013"/>
                </a:lnTo>
                <a:cubicBezTo>
                  <a:pt x="192881" y="98003"/>
                  <a:pt x="192703" y="96083"/>
                  <a:pt x="192435" y="94208"/>
                </a:cubicBezTo>
                <a:cubicBezTo>
                  <a:pt x="199355" y="92467"/>
                  <a:pt x="205829" y="90368"/>
                  <a:pt x="211723" y="87868"/>
                </a:cubicBezTo>
                <a:cubicBezTo>
                  <a:pt x="217616" y="85368"/>
                  <a:pt x="223376" y="82421"/>
                  <a:pt x="228600" y="78804"/>
                </a:cubicBezTo>
                <a:lnTo>
                  <a:pt x="228600" y="85680"/>
                </a:lnTo>
                <a:cubicBezTo>
                  <a:pt x="228600" y="97646"/>
                  <a:pt x="214536" y="108228"/>
                  <a:pt x="192881" y="114702"/>
                </a:cubicBezTo>
                <a:close/>
                <a:moveTo>
                  <a:pt x="0" y="107156"/>
                </a:moveTo>
                <a:lnTo>
                  <a:pt x="0" y="100013"/>
                </a:lnTo>
                <a:cubicBezTo>
                  <a:pt x="0" y="80278"/>
                  <a:pt x="38398" y="64294"/>
                  <a:pt x="85725" y="64294"/>
                </a:cubicBezTo>
                <a:cubicBezTo>
                  <a:pt x="133052" y="64294"/>
                  <a:pt x="171450" y="80278"/>
                  <a:pt x="171450" y="100013"/>
                </a:cubicBezTo>
                <a:lnTo>
                  <a:pt x="171450" y="107156"/>
                </a:lnTo>
                <a:cubicBezTo>
                  <a:pt x="171450" y="126891"/>
                  <a:pt x="133052" y="142875"/>
                  <a:pt x="85725" y="142875"/>
                </a:cubicBezTo>
                <a:cubicBezTo>
                  <a:pt x="38398" y="142875"/>
                  <a:pt x="0" y="126891"/>
                  <a:pt x="0" y="107156"/>
                </a:cubicBezTo>
                <a:close/>
                <a:moveTo>
                  <a:pt x="171450" y="150019"/>
                </a:moveTo>
                <a:cubicBezTo>
                  <a:pt x="171450" y="169753"/>
                  <a:pt x="133052" y="185738"/>
                  <a:pt x="85725" y="185738"/>
                </a:cubicBezTo>
                <a:cubicBezTo>
                  <a:pt x="38398" y="185738"/>
                  <a:pt x="0" y="169753"/>
                  <a:pt x="0" y="150019"/>
                </a:cubicBezTo>
                <a:lnTo>
                  <a:pt x="0" y="143143"/>
                </a:lnTo>
                <a:cubicBezTo>
                  <a:pt x="5179" y="146759"/>
                  <a:pt x="10939" y="149706"/>
                  <a:pt x="16877" y="152207"/>
                </a:cubicBezTo>
                <a:cubicBezTo>
                  <a:pt x="35585" y="160020"/>
                  <a:pt x="59963" y="164306"/>
                  <a:pt x="85725" y="164306"/>
                </a:cubicBezTo>
                <a:cubicBezTo>
                  <a:pt x="111487" y="164306"/>
                  <a:pt x="135865" y="159975"/>
                  <a:pt x="154573" y="152207"/>
                </a:cubicBezTo>
                <a:cubicBezTo>
                  <a:pt x="160466" y="149751"/>
                  <a:pt x="166226" y="146759"/>
                  <a:pt x="171450" y="143143"/>
                </a:cubicBezTo>
                <a:lnTo>
                  <a:pt x="171450" y="150019"/>
                </a:lnTo>
                <a:close/>
                <a:moveTo>
                  <a:pt x="171450" y="186005"/>
                </a:moveTo>
                <a:lnTo>
                  <a:pt x="171450" y="192881"/>
                </a:lnTo>
                <a:cubicBezTo>
                  <a:pt x="171450" y="212616"/>
                  <a:pt x="133052" y="228600"/>
                  <a:pt x="85725" y="228600"/>
                </a:cubicBezTo>
                <a:cubicBezTo>
                  <a:pt x="38398" y="228600"/>
                  <a:pt x="0" y="212616"/>
                  <a:pt x="0" y="192881"/>
                </a:cubicBezTo>
                <a:lnTo>
                  <a:pt x="0" y="186005"/>
                </a:lnTo>
                <a:cubicBezTo>
                  <a:pt x="5179" y="189622"/>
                  <a:pt x="10939" y="192569"/>
                  <a:pt x="16877" y="195069"/>
                </a:cubicBezTo>
                <a:cubicBezTo>
                  <a:pt x="35585" y="202883"/>
                  <a:pt x="59963" y="207169"/>
                  <a:pt x="85725" y="207169"/>
                </a:cubicBezTo>
                <a:cubicBezTo>
                  <a:pt x="111487" y="207169"/>
                  <a:pt x="135865" y="202838"/>
                  <a:pt x="154573" y="195069"/>
                </a:cubicBezTo>
                <a:cubicBezTo>
                  <a:pt x="160466" y="192613"/>
                  <a:pt x="166226" y="189622"/>
                  <a:pt x="171450" y="186005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50" name="Text 48"/>
          <p:cNvSpPr/>
          <p:nvPr/>
        </p:nvSpPr>
        <p:spPr>
          <a:xfrm>
            <a:off x="8728075" y="1609725"/>
            <a:ext cx="857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资源节约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8328025" y="2028825"/>
            <a:ext cx="3286125" cy="1066800"/>
          </a:xfrm>
          <a:prstGeom prst="roundRect">
            <a:avLst>
              <a:gd name="adj" fmla="val 3571"/>
            </a:avLst>
          </a:prstGeom>
          <a:solidFill>
            <a:srgbClr val="0F1115"/>
          </a:solidFill>
          <a:ln/>
        </p:spPr>
      </p:sp>
      <p:sp>
        <p:nvSpPr>
          <p:cNvPr id="52" name="Text 50"/>
          <p:cNvSpPr/>
          <p:nvPr/>
        </p:nvSpPr>
        <p:spPr>
          <a:xfrm>
            <a:off x="8442325" y="21431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按需触发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42325" y="24098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仅当相关文件变更时运行对应任务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442325" y="2676525"/>
            <a:ext cx="3057525" cy="304800"/>
          </a:xfrm>
          <a:prstGeom prst="roundRect">
            <a:avLst>
              <a:gd name="adj" fmla="val 12500"/>
            </a:avLst>
          </a:prstGeom>
          <a:solidFill>
            <a:srgbClr val="22577A">
              <a:alpha val="30196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8518525" y="2752725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paths: ['src/**', 'tests/**']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28025" y="3209925"/>
            <a:ext cx="3286125" cy="1066800"/>
          </a:xfrm>
          <a:prstGeom prst="roundRect">
            <a:avLst>
              <a:gd name="adj" fmla="val 3571"/>
            </a:avLst>
          </a:prstGeom>
          <a:solidFill>
            <a:srgbClr val="0F1115"/>
          </a:solidFill>
          <a:ln/>
        </p:spPr>
      </p:sp>
      <p:sp>
        <p:nvSpPr>
          <p:cNvPr id="57" name="Text 55"/>
          <p:cNvSpPr/>
          <p:nvPr/>
        </p:nvSpPr>
        <p:spPr>
          <a:xfrm>
            <a:off x="8442325" y="33242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超时控制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442325" y="35909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防止僵尸任务占用资源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42325" y="3857625"/>
            <a:ext cx="3057525" cy="304800"/>
          </a:xfrm>
          <a:prstGeom prst="roundRect">
            <a:avLst>
              <a:gd name="adj" fmla="val 12500"/>
            </a:avLst>
          </a:prstGeom>
          <a:solidFill>
            <a:srgbClr val="22577A">
              <a:alpha val="30196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8518525" y="3933825"/>
            <a:ext cx="2962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E0E2E5">
                    <a:alpha val="6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timeout-minutes: 10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8328025" y="4391025"/>
            <a:ext cx="3286125" cy="6858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62" name="Text 60"/>
          <p:cNvSpPr/>
          <p:nvPr/>
        </p:nvSpPr>
        <p:spPr>
          <a:xfrm>
            <a:off x="8442325" y="4505325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制品管理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8442325" y="4772025"/>
            <a:ext cx="3124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失败时保留日志，设置过期时间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8328025" y="5191125"/>
            <a:ext cx="3286125" cy="419100"/>
          </a:xfrm>
          <a:prstGeom prst="roundRect">
            <a:avLst>
              <a:gd name="adj" fmla="val 9091"/>
            </a:avLst>
          </a:prstGeom>
          <a:solidFill>
            <a:srgbClr val="38A3A5">
              <a:alpha val="10196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8461375" y="5338763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16669"/>
                </a:moveTo>
                <a:cubicBezTo>
                  <a:pt x="16669" y="12059"/>
                  <a:pt x="12944" y="8334"/>
                  <a:pt x="8334" y="8334"/>
                </a:cubicBezTo>
                <a:cubicBezTo>
                  <a:pt x="3724" y="8334"/>
                  <a:pt x="0" y="12059"/>
                  <a:pt x="0" y="16669"/>
                </a:cubicBezTo>
                <a:lnTo>
                  <a:pt x="0" y="104180"/>
                </a:lnTo>
                <a:cubicBezTo>
                  <a:pt x="0" y="115692"/>
                  <a:pt x="9324" y="125016"/>
                  <a:pt x="20836" y="125016"/>
                </a:cubicBezTo>
                <a:lnTo>
                  <a:pt x="125016" y="125016"/>
                </a:lnTo>
                <a:cubicBezTo>
                  <a:pt x="129626" y="125016"/>
                  <a:pt x="133350" y="121291"/>
                  <a:pt x="133350" y="116681"/>
                </a:cubicBezTo>
                <a:cubicBezTo>
                  <a:pt x="133350" y="112071"/>
                  <a:pt x="129626" y="108347"/>
                  <a:pt x="125016" y="108347"/>
                </a:cubicBezTo>
                <a:lnTo>
                  <a:pt x="20836" y="108347"/>
                </a:lnTo>
                <a:cubicBezTo>
                  <a:pt x="18544" y="108347"/>
                  <a:pt x="16669" y="106472"/>
                  <a:pt x="16669" y="104180"/>
                </a:cubicBezTo>
                <a:lnTo>
                  <a:pt x="16669" y="16669"/>
                </a:lnTo>
                <a:close/>
                <a:moveTo>
                  <a:pt x="122567" y="39224"/>
                </a:moveTo>
                <a:cubicBezTo>
                  <a:pt x="125823" y="35968"/>
                  <a:pt x="125823" y="30681"/>
                  <a:pt x="122567" y="27425"/>
                </a:cubicBezTo>
                <a:cubicBezTo>
                  <a:pt x="119312" y="24170"/>
                  <a:pt x="114025" y="24170"/>
                  <a:pt x="110769" y="27425"/>
                </a:cubicBezTo>
                <a:lnTo>
                  <a:pt x="83344" y="54877"/>
                </a:lnTo>
                <a:lnTo>
                  <a:pt x="68394" y="39953"/>
                </a:lnTo>
                <a:cubicBezTo>
                  <a:pt x="65138" y="36697"/>
                  <a:pt x="59851" y="36697"/>
                  <a:pt x="56596" y="39953"/>
                </a:cubicBezTo>
                <a:lnTo>
                  <a:pt x="31592" y="64956"/>
                </a:lnTo>
                <a:cubicBezTo>
                  <a:pt x="28337" y="68212"/>
                  <a:pt x="28337" y="73499"/>
                  <a:pt x="31592" y="76754"/>
                </a:cubicBezTo>
                <a:cubicBezTo>
                  <a:pt x="34848" y="80010"/>
                  <a:pt x="40135" y="80010"/>
                  <a:pt x="43391" y="76754"/>
                </a:cubicBezTo>
                <a:lnTo>
                  <a:pt x="62508" y="57637"/>
                </a:lnTo>
                <a:lnTo>
                  <a:pt x="77458" y="72587"/>
                </a:lnTo>
                <a:cubicBezTo>
                  <a:pt x="80713" y="75843"/>
                  <a:pt x="86000" y="75843"/>
                  <a:pt x="89256" y="72587"/>
                </a:cubicBezTo>
                <a:lnTo>
                  <a:pt x="122593" y="39250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66" name="Text 64"/>
          <p:cNvSpPr/>
          <p:nvPr/>
        </p:nvSpPr>
        <p:spPr>
          <a:xfrm>
            <a:off x="8642350" y="5305425"/>
            <a:ext cx="2924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效果：整体构建时间缩短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30-50%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385763" y="5967413"/>
            <a:ext cx="11420475" cy="542925"/>
          </a:xfrm>
          <a:prstGeom prst="roundRect">
            <a:avLst>
              <a:gd name="adj" fmla="val 14035"/>
            </a:avLst>
          </a:prstGeom>
          <a:solidFill>
            <a:srgbClr val="80ED99">
              <a:alpha val="10196"/>
            </a:srgbClr>
          </a:solidFill>
          <a:ln w="12700">
            <a:solidFill>
              <a:srgbClr val="80ED99">
                <a:alpha val="50196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61975" y="6167438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69" name="Text 67"/>
          <p:cNvSpPr/>
          <p:nvPr/>
        </p:nvSpPr>
        <p:spPr>
          <a:xfrm>
            <a:off x="790575" y="6124575"/>
            <a:ext cx="10934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核心理念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：CI 不是简单的自动化脚本，而是工程效率的放大器。每一次优化都在为团队节省时间，让开发者专注于创造价值。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1000" y="2105025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2105025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543175"/>
            <a:ext cx="10287000" cy="381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3324225"/>
            <a:ext cx="117729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工程飞轮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410075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代码质量是工程文化的镜子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spc="100" kern="0" dirty="0">
                <a:solidFill>
                  <a:srgbClr val="38A3A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ENGINEERING EXCELLENCE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17500" y="57150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工程化实践：从代码风格到结构化设计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17500" y="984250"/>
            <a:ext cx="635000" cy="3175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321469" y="1178719"/>
            <a:ext cx="5675313" cy="2611438"/>
          </a:xfrm>
          <a:prstGeom prst="roundRect">
            <a:avLst>
              <a:gd name="adj" fmla="val 2432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6094" y="13731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817563" y="1341438"/>
            <a:ext cx="16271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代码风格与 Linter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84187" y="1722438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9" name="Text 7"/>
          <p:cNvSpPr/>
          <p:nvPr/>
        </p:nvSpPr>
        <p:spPr>
          <a:xfrm>
            <a:off x="579438" y="18176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统一代码风格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9438" y="20399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Prettier / ESLint / Black，消除格式争议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4187" y="2389188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12" name="Text 10"/>
          <p:cNvSpPr/>
          <p:nvPr/>
        </p:nvSpPr>
        <p:spPr>
          <a:xfrm>
            <a:off x="579438" y="248443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 门禁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79438" y="27066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 Lint 检查集成到 CI，拒绝不符合规范的代码入库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84187" y="3055938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15" name="Text 13"/>
          <p:cNvSpPr/>
          <p:nvPr/>
        </p:nvSpPr>
        <p:spPr>
          <a:xfrm>
            <a:off x="579438" y="31511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自动化修复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79438" y="3373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husky + lint-staged，提交前自动修复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1469" y="3925094"/>
            <a:ext cx="5675313" cy="1944688"/>
          </a:xfrm>
          <a:prstGeom prst="roundRect">
            <a:avLst>
              <a:gd name="adj" fmla="val 3265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8000" y="411956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9" name="Text 17"/>
          <p:cNvSpPr/>
          <p:nvPr/>
        </p:nvSpPr>
        <p:spPr>
          <a:xfrm>
            <a:off x="817563" y="4087812"/>
            <a:ext cx="1428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结构化工程原则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84187" y="446881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38A3A5"/>
          </a:solidFill>
          <a:ln/>
        </p:spPr>
      </p:sp>
      <p:sp>
        <p:nvSpPr>
          <p:cNvPr id="21" name="Text 19"/>
          <p:cNvSpPr/>
          <p:nvPr/>
        </p:nvSpPr>
        <p:spPr>
          <a:xfrm>
            <a:off x="452438" y="4468813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3438" y="4468813"/>
            <a:ext cx="1325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单一职责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3438" y="4659313"/>
            <a:ext cx="1317625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一个文件/函数只做一件事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84187" y="491331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38A3A5"/>
          </a:solidFill>
          <a:ln/>
        </p:spPr>
      </p:sp>
      <p:sp>
        <p:nvSpPr>
          <p:cNvPr id="25" name="Text 23"/>
          <p:cNvSpPr/>
          <p:nvPr/>
        </p:nvSpPr>
        <p:spPr>
          <a:xfrm>
            <a:off x="452438" y="4913313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33438" y="4913313"/>
            <a:ext cx="150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适度拆分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438" y="5103813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函数 &lt; 50 行，文件 &lt; 300 行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84187" y="5357813"/>
            <a:ext cx="254000" cy="254000"/>
          </a:xfrm>
          <a:prstGeom prst="roundRect">
            <a:avLst>
              <a:gd name="adj" fmla="val 12500"/>
            </a:avLst>
          </a:prstGeom>
          <a:solidFill>
            <a:srgbClr val="38A3A5"/>
          </a:solidFill>
          <a:ln/>
        </p:spPr>
      </p:sp>
      <p:sp>
        <p:nvSpPr>
          <p:cNvPr id="29" name="Text 27"/>
          <p:cNvSpPr/>
          <p:nvPr/>
        </p:nvSpPr>
        <p:spPr>
          <a:xfrm>
            <a:off x="452438" y="5357813"/>
            <a:ext cx="317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00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33438" y="5357813"/>
            <a:ext cx="1508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避免"败坏的开始"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3438" y="5548313"/>
            <a:ext cx="150018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技术债的早期预防，破窗效应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195219" y="1178719"/>
            <a:ext cx="5675313" cy="3055938"/>
          </a:xfrm>
          <a:prstGeom prst="roundRect">
            <a:avLst>
              <a:gd name="adj" fmla="val 2078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69844" y="1373188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85105" y="-6325"/>
                </a:moveTo>
                <a:cubicBezTo>
                  <a:pt x="181608" y="-9823"/>
                  <a:pt x="175952" y="-9823"/>
                  <a:pt x="172492" y="-6325"/>
                </a:cubicBezTo>
                <a:cubicBezTo>
                  <a:pt x="169032" y="-2828"/>
                  <a:pt x="168994" y="2828"/>
                  <a:pt x="172492" y="6288"/>
                </a:cubicBezTo>
                <a:lnTo>
                  <a:pt x="178073" y="11869"/>
                </a:lnTo>
                <a:lnTo>
                  <a:pt x="160920" y="29021"/>
                </a:lnTo>
                <a:lnTo>
                  <a:pt x="137480" y="5581"/>
                </a:lnTo>
                <a:cubicBezTo>
                  <a:pt x="133983" y="2084"/>
                  <a:pt x="128327" y="2084"/>
                  <a:pt x="124867" y="5581"/>
                </a:cubicBezTo>
                <a:cubicBezTo>
                  <a:pt x="121407" y="9079"/>
                  <a:pt x="121369" y="14734"/>
                  <a:pt x="124867" y="18194"/>
                </a:cubicBezTo>
                <a:lnTo>
                  <a:pt x="127471" y="20799"/>
                </a:lnTo>
                <a:lnTo>
                  <a:pt x="98413" y="49857"/>
                </a:lnTo>
                <a:lnTo>
                  <a:pt x="113667" y="65112"/>
                </a:lnTo>
                <a:cubicBezTo>
                  <a:pt x="117165" y="68610"/>
                  <a:pt x="117165" y="74265"/>
                  <a:pt x="113667" y="77725"/>
                </a:cubicBezTo>
                <a:cubicBezTo>
                  <a:pt x="110170" y="81186"/>
                  <a:pt x="104515" y="81223"/>
                  <a:pt x="101054" y="77725"/>
                </a:cubicBezTo>
                <a:lnTo>
                  <a:pt x="85799" y="62471"/>
                </a:lnTo>
                <a:lnTo>
                  <a:pt x="68647" y="79623"/>
                </a:lnTo>
                <a:lnTo>
                  <a:pt x="83902" y="94878"/>
                </a:lnTo>
                <a:cubicBezTo>
                  <a:pt x="87399" y="98375"/>
                  <a:pt x="87399" y="104031"/>
                  <a:pt x="83902" y="107491"/>
                </a:cubicBezTo>
                <a:cubicBezTo>
                  <a:pt x="80404" y="110951"/>
                  <a:pt x="74749" y="110989"/>
                  <a:pt x="71289" y="107491"/>
                </a:cubicBezTo>
                <a:lnTo>
                  <a:pt x="56034" y="92236"/>
                </a:lnTo>
                <a:lnTo>
                  <a:pt x="42007" y="106263"/>
                </a:lnTo>
                <a:cubicBezTo>
                  <a:pt x="38100" y="110170"/>
                  <a:pt x="35905" y="115453"/>
                  <a:pt x="35905" y="120997"/>
                </a:cubicBezTo>
                <a:lnTo>
                  <a:pt x="35905" y="154037"/>
                </a:lnTo>
                <a:lnTo>
                  <a:pt x="14697" y="175245"/>
                </a:lnTo>
                <a:cubicBezTo>
                  <a:pt x="11199" y="178743"/>
                  <a:pt x="11199" y="184398"/>
                  <a:pt x="14697" y="187858"/>
                </a:cubicBezTo>
                <a:cubicBezTo>
                  <a:pt x="18194" y="191319"/>
                  <a:pt x="23850" y="191356"/>
                  <a:pt x="27310" y="187858"/>
                </a:cubicBezTo>
                <a:lnTo>
                  <a:pt x="48518" y="166650"/>
                </a:lnTo>
                <a:lnTo>
                  <a:pt x="81558" y="166650"/>
                </a:lnTo>
                <a:cubicBezTo>
                  <a:pt x="87102" y="166650"/>
                  <a:pt x="92385" y="164455"/>
                  <a:pt x="96292" y="160548"/>
                </a:cubicBezTo>
                <a:lnTo>
                  <a:pt x="181756" y="75084"/>
                </a:lnTo>
                <a:lnTo>
                  <a:pt x="184361" y="77688"/>
                </a:lnTo>
                <a:cubicBezTo>
                  <a:pt x="187858" y="81186"/>
                  <a:pt x="193514" y="81186"/>
                  <a:pt x="196974" y="77688"/>
                </a:cubicBezTo>
                <a:cubicBezTo>
                  <a:pt x="200434" y="74191"/>
                  <a:pt x="200471" y="68535"/>
                  <a:pt x="196974" y="65075"/>
                </a:cubicBezTo>
                <a:lnTo>
                  <a:pt x="173534" y="41635"/>
                </a:lnTo>
                <a:lnTo>
                  <a:pt x="190686" y="24482"/>
                </a:lnTo>
                <a:lnTo>
                  <a:pt x="196267" y="30063"/>
                </a:lnTo>
                <a:cubicBezTo>
                  <a:pt x="199765" y="33561"/>
                  <a:pt x="205420" y="33561"/>
                  <a:pt x="208880" y="30063"/>
                </a:cubicBezTo>
                <a:cubicBezTo>
                  <a:pt x="212341" y="26566"/>
                  <a:pt x="212378" y="20910"/>
                  <a:pt x="208880" y="17450"/>
                </a:cubicBezTo>
                <a:lnTo>
                  <a:pt x="185068" y="-6362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34" name="Text 32"/>
          <p:cNvSpPr/>
          <p:nvPr/>
        </p:nvSpPr>
        <p:spPr>
          <a:xfrm>
            <a:off x="6691313" y="1341438"/>
            <a:ext cx="1809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面向测试的代码设计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357938" y="1722438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6" name="Text 34"/>
          <p:cNvSpPr/>
          <p:nvPr/>
        </p:nvSpPr>
        <p:spPr>
          <a:xfrm>
            <a:off x="6453188" y="18176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依赖注入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53188" y="20399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通过接口注入依赖，测试时可替换为 Mock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357938" y="2389188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9" name="Text 37"/>
          <p:cNvSpPr/>
          <p:nvPr/>
        </p:nvSpPr>
        <p:spPr>
          <a:xfrm>
            <a:off x="6453188" y="248443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接口抽象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53188" y="270668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面向接口编程，实现可替换、可测试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57938" y="3055938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42" name="Text 40"/>
          <p:cNvSpPr/>
          <p:nvPr/>
        </p:nvSpPr>
        <p:spPr>
          <a:xfrm>
            <a:off x="6453188" y="3151188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副作用隔离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453188" y="3373438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纯函数易于测试，副作用集中管理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357938" y="3722688"/>
            <a:ext cx="5349875" cy="349250"/>
          </a:xfrm>
          <a:prstGeom prst="roundRect">
            <a:avLst>
              <a:gd name="adj" fmla="val 9091"/>
            </a:avLst>
          </a:prstGeom>
          <a:solidFill>
            <a:srgbClr val="38A3A5">
              <a:alpha val="10196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476008" y="3845719"/>
            <a:ext cx="97234" cy="111125"/>
          </a:xfrm>
          <a:custGeom>
            <a:avLst/>
            <a:gdLst/>
            <a:ahLst/>
            <a:cxnLst/>
            <a:rect l="l" t="t" r="r" b="b"/>
            <a:pathLst>
              <a:path w="97234" h="111125">
                <a:moveTo>
                  <a:pt x="0" y="46881"/>
                </a:moveTo>
                <a:cubicBezTo>
                  <a:pt x="0" y="32491"/>
                  <a:pt x="11655" y="20836"/>
                  <a:pt x="26045" y="20836"/>
                </a:cubicBezTo>
                <a:lnTo>
                  <a:pt x="27781" y="20836"/>
                </a:lnTo>
                <a:cubicBezTo>
                  <a:pt x="31623" y="20836"/>
                  <a:pt x="34727" y="23940"/>
                  <a:pt x="34727" y="27781"/>
                </a:cubicBezTo>
                <a:cubicBezTo>
                  <a:pt x="34727" y="31623"/>
                  <a:pt x="31623" y="34727"/>
                  <a:pt x="27781" y="34727"/>
                </a:cubicBezTo>
                <a:lnTo>
                  <a:pt x="26045" y="34727"/>
                </a:lnTo>
                <a:cubicBezTo>
                  <a:pt x="19338" y="34727"/>
                  <a:pt x="13891" y="40174"/>
                  <a:pt x="13891" y="46881"/>
                </a:cubicBezTo>
                <a:lnTo>
                  <a:pt x="13891" y="48617"/>
                </a:lnTo>
                <a:lnTo>
                  <a:pt x="27781" y="48617"/>
                </a:lnTo>
                <a:cubicBezTo>
                  <a:pt x="35443" y="48617"/>
                  <a:pt x="41672" y="54846"/>
                  <a:pt x="41672" y="62508"/>
                </a:cubicBezTo>
                <a:lnTo>
                  <a:pt x="41672" y="76398"/>
                </a:lnTo>
                <a:cubicBezTo>
                  <a:pt x="41672" y="84060"/>
                  <a:pt x="35443" y="90289"/>
                  <a:pt x="27781" y="90289"/>
                </a:cubicBezTo>
                <a:lnTo>
                  <a:pt x="13891" y="90289"/>
                </a:lnTo>
                <a:cubicBezTo>
                  <a:pt x="6229" y="90289"/>
                  <a:pt x="0" y="84060"/>
                  <a:pt x="0" y="76398"/>
                </a:cubicBezTo>
                <a:lnTo>
                  <a:pt x="0" y="46881"/>
                </a:lnTo>
                <a:close/>
                <a:moveTo>
                  <a:pt x="55563" y="46881"/>
                </a:moveTo>
                <a:cubicBezTo>
                  <a:pt x="55563" y="32491"/>
                  <a:pt x="67218" y="20836"/>
                  <a:pt x="81607" y="20836"/>
                </a:cubicBezTo>
                <a:lnTo>
                  <a:pt x="83344" y="20836"/>
                </a:lnTo>
                <a:cubicBezTo>
                  <a:pt x="87185" y="20836"/>
                  <a:pt x="90289" y="23940"/>
                  <a:pt x="90289" y="27781"/>
                </a:cubicBezTo>
                <a:cubicBezTo>
                  <a:pt x="90289" y="31623"/>
                  <a:pt x="87185" y="34727"/>
                  <a:pt x="83344" y="34727"/>
                </a:cubicBezTo>
                <a:lnTo>
                  <a:pt x="81607" y="34727"/>
                </a:lnTo>
                <a:cubicBezTo>
                  <a:pt x="74901" y="34727"/>
                  <a:pt x="69453" y="40174"/>
                  <a:pt x="69453" y="46881"/>
                </a:cubicBezTo>
                <a:lnTo>
                  <a:pt x="69453" y="48617"/>
                </a:lnTo>
                <a:lnTo>
                  <a:pt x="83344" y="48617"/>
                </a:lnTo>
                <a:cubicBezTo>
                  <a:pt x="91005" y="48617"/>
                  <a:pt x="97234" y="54846"/>
                  <a:pt x="97234" y="62508"/>
                </a:cubicBezTo>
                <a:lnTo>
                  <a:pt x="97234" y="76398"/>
                </a:lnTo>
                <a:cubicBezTo>
                  <a:pt x="97234" y="84060"/>
                  <a:pt x="91005" y="90289"/>
                  <a:pt x="83344" y="90289"/>
                </a:cubicBezTo>
                <a:lnTo>
                  <a:pt x="69453" y="90289"/>
                </a:lnTo>
                <a:cubicBezTo>
                  <a:pt x="61792" y="90289"/>
                  <a:pt x="55563" y="84060"/>
                  <a:pt x="55563" y="76398"/>
                </a:cubicBezTo>
                <a:lnTo>
                  <a:pt x="55563" y="46881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46" name="Text 44"/>
          <p:cNvSpPr/>
          <p:nvPr/>
        </p:nvSpPr>
        <p:spPr>
          <a:xfrm>
            <a:off x="6615906" y="3817938"/>
            <a:ext cx="5052219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可测试的代码就是好的架构设计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195219" y="4369594"/>
            <a:ext cx="5675313" cy="2611438"/>
          </a:xfrm>
          <a:prstGeom prst="roundRect">
            <a:avLst>
              <a:gd name="adj" fmla="val 2432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05563" y="4564063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15863" y="11906"/>
                </a:moveTo>
                <a:lnTo>
                  <a:pt x="119063" y="11906"/>
                </a:lnTo>
                <a:cubicBezTo>
                  <a:pt x="132197" y="11906"/>
                  <a:pt x="142875" y="22585"/>
                  <a:pt x="142875" y="35719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35719"/>
                </a:lnTo>
                <a:cubicBezTo>
                  <a:pt x="0" y="22585"/>
                  <a:pt x="10678" y="11906"/>
                  <a:pt x="23812" y="11906"/>
                </a:cubicBezTo>
                <a:lnTo>
                  <a:pt x="27012" y="11906"/>
                </a:lnTo>
                <a:cubicBezTo>
                  <a:pt x="31105" y="4800"/>
                  <a:pt x="38807" y="0"/>
                  <a:pt x="47625" y="0"/>
                </a:cubicBezTo>
                <a:lnTo>
                  <a:pt x="95250" y="0"/>
                </a:lnTo>
                <a:cubicBezTo>
                  <a:pt x="104068" y="0"/>
                  <a:pt x="111770" y="4800"/>
                  <a:pt x="115863" y="11906"/>
                </a:cubicBezTo>
                <a:close/>
                <a:moveTo>
                  <a:pt x="92273" y="41672"/>
                </a:moveTo>
                <a:cubicBezTo>
                  <a:pt x="97222" y="41672"/>
                  <a:pt x="101203" y="37691"/>
                  <a:pt x="101203" y="32742"/>
                </a:cubicBezTo>
                <a:cubicBezTo>
                  <a:pt x="101203" y="27794"/>
                  <a:pt x="97222" y="23812"/>
                  <a:pt x="92273" y="23812"/>
                </a:cubicBezTo>
                <a:lnTo>
                  <a:pt x="50602" y="23812"/>
                </a:lnTo>
                <a:cubicBezTo>
                  <a:pt x="45653" y="23812"/>
                  <a:pt x="41672" y="27794"/>
                  <a:pt x="41672" y="32742"/>
                </a:cubicBezTo>
                <a:cubicBezTo>
                  <a:pt x="41672" y="37691"/>
                  <a:pt x="45653" y="41672"/>
                  <a:pt x="50602" y="41672"/>
                </a:cubicBezTo>
                <a:lnTo>
                  <a:pt x="92273" y="41672"/>
                </a:lnTo>
                <a:close/>
                <a:moveTo>
                  <a:pt x="47625" y="95250"/>
                </a:moveTo>
                <a:cubicBezTo>
                  <a:pt x="47625" y="88679"/>
                  <a:pt x="42290" y="83344"/>
                  <a:pt x="35719" y="83344"/>
                </a:cubicBezTo>
                <a:cubicBezTo>
                  <a:pt x="29148" y="83344"/>
                  <a:pt x="23812" y="88679"/>
                  <a:pt x="23812" y="95250"/>
                </a:cubicBezTo>
                <a:cubicBezTo>
                  <a:pt x="23812" y="101821"/>
                  <a:pt x="29148" y="107156"/>
                  <a:pt x="35719" y="107156"/>
                </a:cubicBezTo>
                <a:cubicBezTo>
                  <a:pt x="42290" y="107156"/>
                  <a:pt x="47625" y="101821"/>
                  <a:pt x="47625" y="95250"/>
                </a:cubicBezTo>
                <a:close/>
                <a:moveTo>
                  <a:pt x="59531" y="95250"/>
                </a:moveTo>
                <a:cubicBezTo>
                  <a:pt x="59531" y="100199"/>
                  <a:pt x="63512" y="104180"/>
                  <a:pt x="68461" y="104180"/>
                </a:cubicBezTo>
                <a:lnTo>
                  <a:pt x="110133" y="104180"/>
                </a:lnTo>
                <a:cubicBezTo>
                  <a:pt x="115081" y="104180"/>
                  <a:pt x="119063" y="100199"/>
                  <a:pt x="119063" y="95250"/>
                </a:cubicBezTo>
                <a:cubicBezTo>
                  <a:pt x="119063" y="90301"/>
                  <a:pt x="115081" y="86320"/>
                  <a:pt x="110133" y="86320"/>
                </a:cubicBezTo>
                <a:lnTo>
                  <a:pt x="68461" y="86320"/>
                </a:lnTo>
                <a:cubicBezTo>
                  <a:pt x="63512" y="86320"/>
                  <a:pt x="59531" y="90301"/>
                  <a:pt x="59531" y="95250"/>
                </a:cubicBezTo>
                <a:close/>
                <a:moveTo>
                  <a:pt x="59531" y="142875"/>
                </a:moveTo>
                <a:cubicBezTo>
                  <a:pt x="59531" y="147824"/>
                  <a:pt x="63512" y="151805"/>
                  <a:pt x="68461" y="151805"/>
                </a:cubicBezTo>
                <a:lnTo>
                  <a:pt x="110133" y="151805"/>
                </a:lnTo>
                <a:cubicBezTo>
                  <a:pt x="115081" y="151805"/>
                  <a:pt x="119063" y="147824"/>
                  <a:pt x="119063" y="142875"/>
                </a:cubicBezTo>
                <a:cubicBezTo>
                  <a:pt x="119063" y="137926"/>
                  <a:pt x="115081" y="133945"/>
                  <a:pt x="110133" y="133945"/>
                </a:cubicBezTo>
                <a:lnTo>
                  <a:pt x="68461" y="133945"/>
                </a:lnTo>
                <a:cubicBezTo>
                  <a:pt x="63512" y="133945"/>
                  <a:pt x="59531" y="137926"/>
                  <a:pt x="59531" y="142875"/>
                </a:cubicBezTo>
                <a:close/>
                <a:moveTo>
                  <a:pt x="35719" y="154781"/>
                </a:moveTo>
                <a:cubicBezTo>
                  <a:pt x="42290" y="154781"/>
                  <a:pt x="47625" y="149446"/>
                  <a:pt x="47625" y="142875"/>
                </a:cubicBezTo>
                <a:cubicBezTo>
                  <a:pt x="47625" y="136304"/>
                  <a:pt x="42290" y="130969"/>
                  <a:pt x="35719" y="130969"/>
                </a:cubicBezTo>
                <a:cubicBezTo>
                  <a:pt x="29148" y="130969"/>
                  <a:pt x="23812" y="136304"/>
                  <a:pt x="23812" y="142875"/>
                </a:cubicBezTo>
                <a:cubicBezTo>
                  <a:pt x="23812" y="149446"/>
                  <a:pt x="29148" y="154781"/>
                  <a:pt x="35719" y="154781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9" name="Text 47"/>
          <p:cNvSpPr/>
          <p:nvPr/>
        </p:nvSpPr>
        <p:spPr>
          <a:xfrm>
            <a:off x="6691313" y="4532313"/>
            <a:ext cx="13017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todo.md 管理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357938" y="4913313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51" name="Text 49"/>
          <p:cNvSpPr/>
          <p:nvPr/>
        </p:nvSpPr>
        <p:spPr>
          <a:xfrm>
            <a:off x="6453188" y="5008563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需求拆解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53188" y="52308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将大需求拆分为可执行、可验证的小任务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57938" y="5580063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54" name="Text 52"/>
          <p:cNvSpPr/>
          <p:nvPr/>
        </p:nvSpPr>
        <p:spPr>
          <a:xfrm>
            <a:off x="6453188" y="5675313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状态流转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453188" y="589756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待办 → 进行中 → 已完成 → 已验证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357938" y="6246813"/>
            <a:ext cx="5349875" cy="571500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57" name="Text 55"/>
          <p:cNvSpPr/>
          <p:nvPr/>
        </p:nvSpPr>
        <p:spPr>
          <a:xfrm>
            <a:off x="6453188" y="6342063"/>
            <a:ext cx="522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代码关联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453188" y="6564313"/>
            <a:ext cx="5214938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87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commit message 引用任务 ID，可追溯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9144000" y="2543175"/>
            <a:ext cx="1524000" cy="38100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5" name="Shape 2"/>
          <p:cNvSpPr/>
          <p:nvPr/>
        </p:nvSpPr>
        <p:spPr>
          <a:xfrm>
            <a:off x="10896600" y="2105025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6" name="Text 3"/>
          <p:cNvSpPr/>
          <p:nvPr/>
        </p:nvSpPr>
        <p:spPr>
          <a:xfrm>
            <a:off x="10782300" y="2105025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04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58196" y="3324225"/>
            <a:ext cx="46482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记忆飞轮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58221" y="4410075"/>
            <a:ext cx="4448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25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沟通成本 &gt; 编写成本，文档即记忆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7783" y="367783"/>
            <a:ext cx="1152999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spc="116" kern="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KNOWLEDGE MANAGEMENT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7783" y="662009"/>
            <a:ext cx="11621937" cy="3677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606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记忆飞轮：降低沟通成本的文档策略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7783" y="1140127"/>
            <a:ext cx="735566" cy="36778"/>
          </a:xfrm>
          <a:prstGeom prst="roundRect">
            <a:avLst>
              <a:gd name="adj" fmla="val 0"/>
            </a:avLst>
          </a:prstGeom>
          <a:solidFill>
            <a:srgbClr val="80ED99"/>
          </a:solidFill>
          <a:ln/>
        </p:spPr>
      </p:sp>
      <p:sp>
        <p:nvSpPr>
          <p:cNvPr id="5" name="Shape 3"/>
          <p:cNvSpPr/>
          <p:nvPr/>
        </p:nvSpPr>
        <p:spPr>
          <a:xfrm>
            <a:off x="372380" y="1365394"/>
            <a:ext cx="6794787" cy="1995222"/>
          </a:xfrm>
          <a:prstGeom prst="roundRect">
            <a:avLst>
              <a:gd name="adj" fmla="val 3687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8452" y="1590661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51719" y="24136"/>
                </a:moveTo>
                <a:cubicBezTo>
                  <a:pt x="51719" y="10818"/>
                  <a:pt x="62537" y="0"/>
                  <a:pt x="75855" y="0"/>
                </a:cubicBezTo>
                <a:lnTo>
                  <a:pt x="86199" y="0"/>
                </a:lnTo>
                <a:cubicBezTo>
                  <a:pt x="93828" y="0"/>
                  <a:pt x="99991" y="6163"/>
                  <a:pt x="99991" y="13792"/>
                </a:cubicBezTo>
                <a:lnTo>
                  <a:pt x="99991" y="206878"/>
                </a:lnTo>
                <a:cubicBezTo>
                  <a:pt x="99991" y="214506"/>
                  <a:pt x="93828" y="220670"/>
                  <a:pt x="86199" y="220670"/>
                </a:cubicBezTo>
                <a:lnTo>
                  <a:pt x="72407" y="220670"/>
                </a:lnTo>
                <a:cubicBezTo>
                  <a:pt x="59564" y="220670"/>
                  <a:pt x="48746" y="211877"/>
                  <a:pt x="45686" y="199982"/>
                </a:cubicBezTo>
                <a:cubicBezTo>
                  <a:pt x="45384" y="199982"/>
                  <a:pt x="45125" y="199982"/>
                  <a:pt x="44824" y="199982"/>
                </a:cubicBezTo>
                <a:cubicBezTo>
                  <a:pt x="25774" y="199982"/>
                  <a:pt x="10344" y="184552"/>
                  <a:pt x="10344" y="165502"/>
                </a:cubicBezTo>
                <a:cubicBezTo>
                  <a:pt x="10344" y="157744"/>
                  <a:pt x="12930" y="150590"/>
                  <a:pt x="17240" y="144814"/>
                </a:cubicBezTo>
                <a:cubicBezTo>
                  <a:pt x="8879" y="138522"/>
                  <a:pt x="3448" y="128523"/>
                  <a:pt x="3448" y="117231"/>
                </a:cubicBezTo>
                <a:cubicBezTo>
                  <a:pt x="3448" y="103913"/>
                  <a:pt x="11033" y="92319"/>
                  <a:pt x="22067" y="86587"/>
                </a:cubicBezTo>
                <a:cubicBezTo>
                  <a:pt x="19007" y="81415"/>
                  <a:pt x="17240" y="75381"/>
                  <a:pt x="17240" y="68959"/>
                </a:cubicBezTo>
                <a:cubicBezTo>
                  <a:pt x="17240" y="49909"/>
                  <a:pt x="32669" y="34480"/>
                  <a:pt x="51719" y="34480"/>
                </a:cubicBezTo>
                <a:lnTo>
                  <a:pt x="51719" y="24136"/>
                </a:lnTo>
                <a:close/>
                <a:moveTo>
                  <a:pt x="168950" y="24136"/>
                </a:moveTo>
                <a:lnTo>
                  <a:pt x="168950" y="34480"/>
                </a:lnTo>
                <a:cubicBezTo>
                  <a:pt x="188000" y="34480"/>
                  <a:pt x="203430" y="49909"/>
                  <a:pt x="203430" y="68959"/>
                </a:cubicBezTo>
                <a:cubicBezTo>
                  <a:pt x="203430" y="75424"/>
                  <a:pt x="201663" y="81458"/>
                  <a:pt x="198603" y="86587"/>
                </a:cubicBezTo>
                <a:cubicBezTo>
                  <a:pt x="209679" y="92319"/>
                  <a:pt x="217222" y="103870"/>
                  <a:pt x="217222" y="117231"/>
                </a:cubicBezTo>
                <a:cubicBezTo>
                  <a:pt x="217222" y="128523"/>
                  <a:pt x="211791" y="138522"/>
                  <a:pt x="203430" y="144814"/>
                </a:cubicBezTo>
                <a:cubicBezTo>
                  <a:pt x="207740" y="150590"/>
                  <a:pt x="210326" y="157744"/>
                  <a:pt x="210326" y="165502"/>
                </a:cubicBezTo>
                <a:cubicBezTo>
                  <a:pt x="210326" y="184552"/>
                  <a:pt x="194896" y="199982"/>
                  <a:pt x="175846" y="199982"/>
                </a:cubicBezTo>
                <a:cubicBezTo>
                  <a:pt x="175544" y="199982"/>
                  <a:pt x="175286" y="199982"/>
                  <a:pt x="174984" y="199982"/>
                </a:cubicBezTo>
                <a:cubicBezTo>
                  <a:pt x="171924" y="211877"/>
                  <a:pt x="161106" y="220670"/>
                  <a:pt x="148262" y="220670"/>
                </a:cubicBezTo>
                <a:lnTo>
                  <a:pt x="134471" y="220670"/>
                </a:lnTo>
                <a:cubicBezTo>
                  <a:pt x="126842" y="220670"/>
                  <a:pt x="120679" y="214506"/>
                  <a:pt x="120679" y="206878"/>
                </a:cubicBezTo>
                <a:lnTo>
                  <a:pt x="120679" y="13792"/>
                </a:lnTo>
                <a:cubicBezTo>
                  <a:pt x="120679" y="6163"/>
                  <a:pt x="126842" y="0"/>
                  <a:pt x="134471" y="0"/>
                </a:cubicBezTo>
                <a:lnTo>
                  <a:pt x="144814" y="0"/>
                </a:lnTo>
                <a:cubicBezTo>
                  <a:pt x="158132" y="0"/>
                  <a:pt x="168950" y="10818"/>
                  <a:pt x="168950" y="24136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7" name="Text 5"/>
          <p:cNvSpPr/>
          <p:nvPr/>
        </p:nvSpPr>
        <p:spPr>
          <a:xfrm>
            <a:off x="947041" y="1553882"/>
            <a:ext cx="993014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核心观点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9258" y="1995222"/>
            <a:ext cx="6399421" cy="1176905"/>
          </a:xfrm>
          <a:custGeom>
            <a:avLst/>
            <a:gdLst/>
            <a:ahLst/>
            <a:cxnLst/>
            <a:rect l="l" t="t" r="r" b="b"/>
            <a:pathLst>
              <a:path w="6399421" h="1176905">
                <a:moveTo>
                  <a:pt x="36830" y="0"/>
                </a:moveTo>
                <a:lnTo>
                  <a:pt x="6325870" y="0"/>
                </a:lnTo>
                <a:cubicBezTo>
                  <a:pt x="6366481" y="0"/>
                  <a:pt x="6399403" y="32922"/>
                  <a:pt x="6399403" y="73533"/>
                </a:cubicBezTo>
                <a:lnTo>
                  <a:pt x="6399403" y="1103376"/>
                </a:lnTo>
                <a:cubicBezTo>
                  <a:pt x="6399403" y="1143987"/>
                  <a:pt x="6366481" y="1176909"/>
                  <a:pt x="6325870" y="1176909"/>
                </a:cubicBezTo>
                <a:lnTo>
                  <a:pt x="36830" y="1176909"/>
                </a:lnTo>
                <a:cubicBezTo>
                  <a:pt x="16489" y="1176909"/>
                  <a:pt x="0" y="1160420"/>
                  <a:pt x="0" y="1140079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9" name="Shape 7"/>
          <p:cNvSpPr/>
          <p:nvPr/>
        </p:nvSpPr>
        <p:spPr>
          <a:xfrm>
            <a:off x="579258" y="1995222"/>
            <a:ext cx="36778" cy="1176905"/>
          </a:xfrm>
          <a:custGeom>
            <a:avLst/>
            <a:gdLst/>
            <a:ahLst/>
            <a:cxnLst/>
            <a:rect l="l" t="t" r="r" b="b"/>
            <a:pathLst>
              <a:path w="36778" h="1176905">
                <a:moveTo>
                  <a:pt x="36830" y="0"/>
                </a:moveTo>
                <a:lnTo>
                  <a:pt x="36830" y="0"/>
                </a:lnTo>
                <a:lnTo>
                  <a:pt x="36830" y="1176909"/>
                </a:lnTo>
                <a:lnTo>
                  <a:pt x="36830" y="1176909"/>
                </a:lnTo>
                <a:cubicBezTo>
                  <a:pt x="16489" y="1176909"/>
                  <a:pt x="0" y="1160420"/>
                  <a:pt x="0" y="1140079"/>
                </a:cubicBezTo>
                <a:lnTo>
                  <a:pt x="0" y="36830"/>
                </a:lnTo>
                <a:cubicBezTo>
                  <a:pt x="0" y="16503"/>
                  <a:pt x="16503" y="0"/>
                  <a:pt x="36830" y="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10" name="Text 8"/>
          <p:cNvSpPr/>
          <p:nvPr/>
        </p:nvSpPr>
        <p:spPr>
          <a:xfrm>
            <a:off x="744760" y="2142335"/>
            <a:ext cx="6224724" cy="331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172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沟通成本 &gt;&gt; 编写成本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4760" y="2546896"/>
            <a:ext cx="6160362" cy="478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5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写文档的一次性投入，远低于反复沟通解释的长期成本。好的文档是团队的</a:t>
            </a:r>
            <a:pPr>
              <a:lnSpc>
                <a:spcPct val="140000"/>
              </a:lnSpc>
            </a:pPr>
            <a:r>
              <a:rPr lang="en-US" sz="1158" dirty="0">
                <a:solidFill>
                  <a:srgbClr val="38A3A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集体记忆</a:t>
            </a:r>
            <a:pPr>
              <a:lnSpc>
                <a:spcPct val="140000"/>
              </a:lnSpc>
            </a:pPr>
            <a:r>
              <a:rPr lang="en-US" sz="115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，让知识沉淀为资产。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2380" y="3516923"/>
            <a:ext cx="6794787" cy="1700995"/>
          </a:xfrm>
          <a:prstGeom prst="roundRect">
            <a:avLst>
              <a:gd name="adj" fmla="val 4324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8452" y="3742190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0" y="27584"/>
                </a:moveTo>
                <a:cubicBezTo>
                  <a:pt x="0" y="19955"/>
                  <a:pt x="6163" y="13792"/>
                  <a:pt x="13792" y="13792"/>
                </a:cubicBezTo>
                <a:lnTo>
                  <a:pt x="206878" y="13792"/>
                </a:lnTo>
                <a:cubicBezTo>
                  <a:pt x="214506" y="13792"/>
                  <a:pt x="220670" y="19955"/>
                  <a:pt x="220670" y="27584"/>
                </a:cubicBezTo>
                <a:lnTo>
                  <a:pt x="220670" y="41376"/>
                </a:lnTo>
                <a:cubicBezTo>
                  <a:pt x="220670" y="49004"/>
                  <a:pt x="214506" y="55167"/>
                  <a:pt x="206878" y="55167"/>
                </a:cubicBezTo>
                <a:lnTo>
                  <a:pt x="13792" y="55167"/>
                </a:lnTo>
                <a:cubicBezTo>
                  <a:pt x="6163" y="55167"/>
                  <a:pt x="0" y="49004"/>
                  <a:pt x="0" y="41376"/>
                </a:cubicBezTo>
                <a:lnTo>
                  <a:pt x="0" y="27584"/>
                </a:lnTo>
                <a:close/>
                <a:moveTo>
                  <a:pt x="13792" y="75855"/>
                </a:moveTo>
                <a:lnTo>
                  <a:pt x="206878" y="75855"/>
                </a:lnTo>
                <a:lnTo>
                  <a:pt x="206878" y="179294"/>
                </a:lnTo>
                <a:cubicBezTo>
                  <a:pt x="206878" y="194508"/>
                  <a:pt x="194508" y="206878"/>
                  <a:pt x="179294" y="206878"/>
                </a:cubicBezTo>
                <a:lnTo>
                  <a:pt x="41376" y="206878"/>
                </a:lnTo>
                <a:cubicBezTo>
                  <a:pt x="26161" y="206878"/>
                  <a:pt x="13792" y="194508"/>
                  <a:pt x="13792" y="179294"/>
                </a:cubicBezTo>
                <a:lnTo>
                  <a:pt x="13792" y="75855"/>
                </a:lnTo>
                <a:close/>
                <a:moveTo>
                  <a:pt x="79303" y="103439"/>
                </a:moveTo>
                <a:cubicBezTo>
                  <a:pt x="73571" y="103439"/>
                  <a:pt x="68959" y="108051"/>
                  <a:pt x="68959" y="113783"/>
                </a:cubicBezTo>
                <a:cubicBezTo>
                  <a:pt x="68959" y="119515"/>
                  <a:pt x="73571" y="124127"/>
                  <a:pt x="79303" y="124127"/>
                </a:cubicBezTo>
                <a:lnTo>
                  <a:pt x="141367" y="124127"/>
                </a:lnTo>
                <a:cubicBezTo>
                  <a:pt x="147099" y="124127"/>
                  <a:pt x="151710" y="119515"/>
                  <a:pt x="151710" y="113783"/>
                </a:cubicBezTo>
                <a:cubicBezTo>
                  <a:pt x="151710" y="108051"/>
                  <a:pt x="147099" y="103439"/>
                  <a:pt x="141367" y="103439"/>
                </a:cubicBezTo>
                <a:lnTo>
                  <a:pt x="79303" y="103439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14" name="Text 12"/>
          <p:cNvSpPr/>
          <p:nvPr/>
        </p:nvSpPr>
        <p:spPr>
          <a:xfrm>
            <a:off x="947041" y="3705412"/>
            <a:ext cx="1434353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知识沉淀策略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60869" y="4146751"/>
            <a:ext cx="2068778" cy="882679"/>
          </a:xfrm>
          <a:prstGeom prst="roundRect">
            <a:avLst>
              <a:gd name="adj" fmla="val 8333"/>
            </a:avLst>
          </a:prstGeom>
          <a:solidFill>
            <a:srgbClr val="0F1115"/>
          </a:solidFill>
          <a:ln/>
        </p:spPr>
      </p:sp>
      <p:sp>
        <p:nvSpPr>
          <p:cNvPr id="16" name="Shape 14"/>
          <p:cNvSpPr/>
          <p:nvPr/>
        </p:nvSpPr>
        <p:spPr>
          <a:xfrm>
            <a:off x="707982" y="4293864"/>
            <a:ext cx="110335" cy="147113"/>
          </a:xfrm>
          <a:custGeom>
            <a:avLst/>
            <a:gdLst/>
            <a:ahLst/>
            <a:cxnLst/>
            <a:rect l="l" t="t" r="r" b="b"/>
            <a:pathLst>
              <a:path w="110335" h="147113">
                <a:moveTo>
                  <a:pt x="0" y="18389"/>
                </a:moveTo>
                <a:cubicBezTo>
                  <a:pt x="0" y="8246"/>
                  <a:pt x="8246" y="0"/>
                  <a:pt x="18389" y="0"/>
                </a:cubicBezTo>
                <a:lnTo>
                  <a:pt x="61345" y="0"/>
                </a:lnTo>
                <a:cubicBezTo>
                  <a:pt x="66230" y="0"/>
                  <a:pt x="70913" y="1925"/>
                  <a:pt x="74361" y="5373"/>
                </a:cubicBezTo>
                <a:lnTo>
                  <a:pt x="104962" y="36002"/>
                </a:lnTo>
                <a:cubicBezTo>
                  <a:pt x="108410" y="39450"/>
                  <a:pt x="110335" y="44134"/>
                  <a:pt x="110335" y="49019"/>
                </a:cubicBezTo>
                <a:lnTo>
                  <a:pt x="110335" y="128724"/>
                </a:lnTo>
                <a:cubicBezTo>
                  <a:pt x="110335" y="138867"/>
                  <a:pt x="102088" y="147113"/>
                  <a:pt x="91946" y="147113"/>
                </a:cubicBezTo>
                <a:lnTo>
                  <a:pt x="18389" y="147113"/>
                </a:lnTo>
                <a:cubicBezTo>
                  <a:pt x="8246" y="147113"/>
                  <a:pt x="0" y="138867"/>
                  <a:pt x="0" y="128724"/>
                </a:cubicBezTo>
                <a:lnTo>
                  <a:pt x="0" y="18389"/>
                </a:lnTo>
                <a:close/>
                <a:moveTo>
                  <a:pt x="59765" y="16809"/>
                </a:moveTo>
                <a:lnTo>
                  <a:pt x="59765" y="43674"/>
                </a:lnTo>
                <a:cubicBezTo>
                  <a:pt x="59765" y="47496"/>
                  <a:pt x="62839" y="50570"/>
                  <a:pt x="66661" y="50570"/>
                </a:cubicBezTo>
                <a:lnTo>
                  <a:pt x="93526" y="50570"/>
                </a:lnTo>
                <a:lnTo>
                  <a:pt x="59765" y="16809"/>
                </a:lnTo>
                <a:close/>
                <a:moveTo>
                  <a:pt x="25285" y="18389"/>
                </a:moveTo>
                <a:cubicBezTo>
                  <a:pt x="21464" y="18389"/>
                  <a:pt x="18389" y="21464"/>
                  <a:pt x="18389" y="25285"/>
                </a:cubicBezTo>
                <a:cubicBezTo>
                  <a:pt x="18389" y="29107"/>
                  <a:pt x="21464" y="32181"/>
                  <a:pt x="25285" y="32181"/>
                </a:cubicBezTo>
                <a:lnTo>
                  <a:pt x="39077" y="32181"/>
                </a:lnTo>
                <a:cubicBezTo>
                  <a:pt x="42898" y="32181"/>
                  <a:pt x="45973" y="29107"/>
                  <a:pt x="45973" y="25285"/>
                </a:cubicBezTo>
                <a:cubicBezTo>
                  <a:pt x="45973" y="21464"/>
                  <a:pt x="42898" y="18389"/>
                  <a:pt x="39077" y="18389"/>
                </a:cubicBezTo>
                <a:lnTo>
                  <a:pt x="25285" y="18389"/>
                </a:lnTo>
                <a:close/>
                <a:moveTo>
                  <a:pt x="25285" y="45973"/>
                </a:moveTo>
                <a:cubicBezTo>
                  <a:pt x="21464" y="45973"/>
                  <a:pt x="18389" y="49047"/>
                  <a:pt x="18389" y="52869"/>
                </a:cubicBezTo>
                <a:cubicBezTo>
                  <a:pt x="18389" y="56690"/>
                  <a:pt x="21464" y="59765"/>
                  <a:pt x="25285" y="59765"/>
                </a:cubicBezTo>
                <a:lnTo>
                  <a:pt x="39077" y="59765"/>
                </a:lnTo>
                <a:cubicBezTo>
                  <a:pt x="42898" y="59765"/>
                  <a:pt x="45973" y="56690"/>
                  <a:pt x="45973" y="52869"/>
                </a:cubicBezTo>
                <a:cubicBezTo>
                  <a:pt x="45973" y="49047"/>
                  <a:pt x="42898" y="45973"/>
                  <a:pt x="39077" y="45973"/>
                </a:cubicBezTo>
                <a:lnTo>
                  <a:pt x="25285" y="45973"/>
                </a:lnTo>
                <a:close/>
                <a:moveTo>
                  <a:pt x="45484" y="91946"/>
                </a:moveTo>
                <a:cubicBezTo>
                  <a:pt x="42238" y="91946"/>
                  <a:pt x="39192" y="93411"/>
                  <a:pt x="37181" y="95940"/>
                </a:cubicBezTo>
                <a:lnTo>
                  <a:pt x="19912" y="117518"/>
                </a:lnTo>
                <a:cubicBezTo>
                  <a:pt x="17527" y="120478"/>
                  <a:pt x="18016" y="124845"/>
                  <a:pt x="20975" y="127201"/>
                </a:cubicBezTo>
                <a:cubicBezTo>
                  <a:pt x="23935" y="129557"/>
                  <a:pt x="28302" y="129098"/>
                  <a:pt x="30658" y="126109"/>
                </a:cubicBezTo>
                <a:lnTo>
                  <a:pt x="44191" y="109214"/>
                </a:lnTo>
                <a:lnTo>
                  <a:pt x="48559" y="123782"/>
                </a:lnTo>
                <a:cubicBezTo>
                  <a:pt x="49421" y="126713"/>
                  <a:pt x="52122" y="128695"/>
                  <a:pt x="55167" y="128695"/>
                </a:cubicBezTo>
                <a:lnTo>
                  <a:pt x="85050" y="128695"/>
                </a:lnTo>
                <a:cubicBezTo>
                  <a:pt x="88871" y="128695"/>
                  <a:pt x="91946" y="125621"/>
                  <a:pt x="91946" y="121799"/>
                </a:cubicBezTo>
                <a:cubicBezTo>
                  <a:pt x="91946" y="117978"/>
                  <a:pt x="88871" y="114903"/>
                  <a:pt x="85050" y="114903"/>
                </a:cubicBezTo>
                <a:lnTo>
                  <a:pt x="60311" y="114903"/>
                </a:lnTo>
                <a:lnTo>
                  <a:pt x="55685" y="99502"/>
                </a:lnTo>
                <a:cubicBezTo>
                  <a:pt x="54334" y="94991"/>
                  <a:pt x="50197" y="91917"/>
                  <a:pt x="45484" y="9191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7" name="Text 15"/>
          <p:cNvSpPr/>
          <p:nvPr/>
        </p:nvSpPr>
        <p:spPr>
          <a:xfrm>
            <a:off x="928652" y="4257086"/>
            <a:ext cx="386172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1204" y="4551312"/>
            <a:ext cx="191247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Architecture Decision Records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71204" y="4771982"/>
            <a:ext cx="1903276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记录技术选型理由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2736151" y="4146751"/>
            <a:ext cx="2068778" cy="882679"/>
          </a:xfrm>
          <a:prstGeom prst="roundRect">
            <a:avLst>
              <a:gd name="adj" fmla="val 8333"/>
            </a:avLst>
          </a:prstGeom>
          <a:solidFill>
            <a:srgbClr val="0F1115"/>
          </a:solidFill>
          <a:ln/>
        </p:spPr>
      </p:sp>
      <p:sp>
        <p:nvSpPr>
          <p:cNvPr id="21" name="Shape 19"/>
          <p:cNvSpPr/>
          <p:nvPr/>
        </p:nvSpPr>
        <p:spPr>
          <a:xfrm>
            <a:off x="2874069" y="4293864"/>
            <a:ext cx="128724" cy="147113"/>
          </a:xfrm>
          <a:custGeom>
            <a:avLst/>
            <a:gdLst/>
            <a:ahLst/>
            <a:cxnLst/>
            <a:rect l="l" t="t" r="r" b="b"/>
            <a:pathLst>
              <a:path w="128724" h="147113">
                <a:moveTo>
                  <a:pt x="27584" y="147113"/>
                </a:moveTo>
                <a:lnTo>
                  <a:pt x="119529" y="147113"/>
                </a:lnTo>
                <a:cubicBezTo>
                  <a:pt x="124615" y="147113"/>
                  <a:pt x="128724" y="143004"/>
                  <a:pt x="128724" y="137919"/>
                </a:cubicBezTo>
                <a:cubicBezTo>
                  <a:pt x="128724" y="132833"/>
                  <a:pt x="124615" y="128724"/>
                  <a:pt x="119529" y="128724"/>
                </a:cubicBezTo>
                <a:lnTo>
                  <a:pt x="119529" y="109559"/>
                </a:lnTo>
                <a:cubicBezTo>
                  <a:pt x="124874" y="107663"/>
                  <a:pt x="128724" y="102548"/>
                  <a:pt x="128724" y="96543"/>
                </a:cubicBezTo>
                <a:lnTo>
                  <a:pt x="128724" y="13792"/>
                </a:lnTo>
                <a:cubicBezTo>
                  <a:pt x="128724" y="6178"/>
                  <a:pt x="122546" y="0"/>
                  <a:pt x="114932" y="0"/>
                </a:cubicBezTo>
                <a:lnTo>
                  <a:pt x="27584" y="0"/>
                </a:lnTo>
                <a:cubicBezTo>
                  <a:pt x="12355" y="0"/>
                  <a:pt x="0" y="12355"/>
                  <a:pt x="0" y="27584"/>
                </a:cubicBezTo>
                <a:lnTo>
                  <a:pt x="0" y="119529"/>
                </a:lnTo>
                <a:cubicBezTo>
                  <a:pt x="0" y="134758"/>
                  <a:pt x="12355" y="147113"/>
                  <a:pt x="27584" y="147113"/>
                </a:cubicBezTo>
                <a:close/>
                <a:moveTo>
                  <a:pt x="18389" y="119529"/>
                </a:moveTo>
                <a:cubicBezTo>
                  <a:pt x="18389" y="114444"/>
                  <a:pt x="22498" y="110335"/>
                  <a:pt x="27584" y="110335"/>
                </a:cubicBezTo>
                <a:lnTo>
                  <a:pt x="101140" y="110335"/>
                </a:lnTo>
                <a:lnTo>
                  <a:pt x="101140" y="128724"/>
                </a:lnTo>
                <a:lnTo>
                  <a:pt x="27584" y="128724"/>
                </a:lnTo>
                <a:cubicBezTo>
                  <a:pt x="22498" y="128724"/>
                  <a:pt x="18389" y="124615"/>
                  <a:pt x="18389" y="119529"/>
                </a:cubicBezTo>
                <a:close/>
                <a:moveTo>
                  <a:pt x="55167" y="34480"/>
                </a:moveTo>
                <a:cubicBezTo>
                  <a:pt x="55167" y="31951"/>
                  <a:pt x="57236" y="29882"/>
                  <a:pt x="59765" y="29882"/>
                </a:cubicBezTo>
                <a:lnTo>
                  <a:pt x="68959" y="29882"/>
                </a:lnTo>
                <a:cubicBezTo>
                  <a:pt x="71488" y="29882"/>
                  <a:pt x="73557" y="31951"/>
                  <a:pt x="73557" y="34480"/>
                </a:cubicBezTo>
                <a:lnTo>
                  <a:pt x="73557" y="45973"/>
                </a:lnTo>
                <a:lnTo>
                  <a:pt x="85050" y="45973"/>
                </a:lnTo>
                <a:cubicBezTo>
                  <a:pt x="87578" y="45973"/>
                  <a:pt x="89647" y="48042"/>
                  <a:pt x="89647" y="50570"/>
                </a:cubicBezTo>
                <a:lnTo>
                  <a:pt x="89647" y="59765"/>
                </a:lnTo>
                <a:cubicBezTo>
                  <a:pt x="89647" y="62293"/>
                  <a:pt x="87578" y="64362"/>
                  <a:pt x="85050" y="64362"/>
                </a:cubicBezTo>
                <a:lnTo>
                  <a:pt x="73557" y="64362"/>
                </a:lnTo>
                <a:lnTo>
                  <a:pt x="73557" y="75855"/>
                </a:lnTo>
                <a:cubicBezTo>
                  <a:pt x="73557" y="78384"/>
                  <a:pt x="71488" y="80452"/>
                  <a:pt x="68959" y="80452"/>
                </a:cubicBezTo>
                <a:lnTo>
                  <a:pt x="59765" y="80452"/>
                </a:lnTo>
                <a:cubicBezTo>
                  <a:pt x="57236" y="80452"/>
                  <a:pt x="55167" y="78384"/>
                  <a:pt x="55167" y="75855"/>
                </a:cubicBezTo>
                <a:lnTo>
                  <a:pt x="55167" y="64362"/>
                </a:lnTo>
                <a:lnTo>
                  <a:pt x="43674" y="64362"/>
                </a:lnTo>
                <a:cubicBezTo>
                  <a:pt x="41146" y="64362"/>
                  <a:pt x="39077" y="62293"/>
                  <a:pt x="39077" y="59765"/>
                </a:cubicBezTo>
                <a:lnTo>
                  <a:pt x="39077" y="50570"/>
                </a:lnTo>
                <a:cubicBezTo>
                  <a:pt x="39077" y="48042"/>
                  <a:pt x="41146" y="45973"/>
                  <a:pt x="43674" y="45973"/>
                </a:cubicBezTo>
                <a:lnTo>
                  <a:pt x="55167" y="45973"/>
                </a:lnTo>
                <a:lnTo>
                  <a:pt x="55167" y="34480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2" name="Text 20"/>
          <p:cNvSpPr/>
          <p:nvPr/>
        </p:nvSpPr>
        <p:spPr>
          <a:xfrm>
            <a:off x="3103933" y="4257086"/>
            <a:ext cx="68959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Runbook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2846485" y="4551312"/>
            <a:ext cx="191247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操作手册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46485" y="4771982"/>
            <a:ext cx="1903276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常见问题排查步骤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911433" y="4146751"/>
            <a:ext cx="2068778" cy="882679"/>
          </a:xfrm>
          <a:prstGeom prst="roundRect">
            <a:avLst>
              <a:gd name="adj" fmla="val 8333"/>
            </a:avLst>
          </a:prstGeom>
          <a:solidFill>
            <a:srgbClr val="0F1115"/>
          </a:solidFill>
          <a:ln/>
        </p:spPr>
      </p:sp>
      <p:sp>
        <p:nvSpPr>
          <p:cNvPr id="26" name="Shape 24"/>
          <p:cNvSpPr/>
          <p:nvPr/>
        </p:nvSpPr>
        <p:spPr>
          <a:xfrm>
            <a:off x="5040157" y="4293864"/>
            <a:ext cx="147113" cy="147113"/>
          </a:xfrm>
          <a:custGeom>
            <a:avLst/>
            <a:gdLst/>
            <a:ahLst/>
            <a:cxnLst/>
            <a:rect l="l" t="t" r="r" b="b"/>
            <a:pathLst>
              <a:path w="147113" h="147113">
                <a:moveTo>
                  <a:pt x="28532" y="73585"/>
                </a:moveTo>
                <a:lnTo>
                  <a:pt x="48473" y="39134"/>
                </a:lnTo>
                <a:cubicBezTo>
                  <a:pt x="46864" y="35629"/>
                  <a:pt x="45944" y="31721"/>
                  <a:pt x="45944" y="27584"/>
                </a:cubicBezTo>
                <a:cubicBezTo>
                  <a:pt x="45944" y="12355"/>
                  <a:pt x="58299" y="0"/>
                  <a:pt x="73528" y="0"/>
                </a:cubicBezTo>
                <a:cubicBezTo>
                  <a:pt x="88756" y="0"/>
                  <a:pt x="101112" y="12355"/>
                  <a:pt x="101112" y="27584"/>
                </a:cubicBezTo>
                <a:cubicBezTo>
                  <a:pt x="101112" y="31693"/>
                  <a:pt x="100221" y="35600"/>
                  <a:pt x="98583" y="39134"/>
                </a:cubicBezTo>
                <a:lnTo>
                  <a:pt x="111340" y="61173"/>
                </a:lnTo>
                <a:cubicBezTo>
                  <a:pt x="104703" y="68643"/>
                  <a:pt x="95911" y="74131"/>
                  <a:pt x="85940" y="76631"/>
                </a:cubicBezTo>
                <a:lnTo>
                  <a:pt x="73557" y="55139"/>
                </a:lnTo>
                <a:lnTo>
                  <a:pt x="53989" y="88929"/>
                </a:lnTo>
                <a:cubicBezTo>
                  <a:pt x="60167" y="90883"/>
                  <a:pt x="66718" y="91946"/>
                  <a:pt x="73557" y="91946"/>
                </a:cubicBezTo>
                <a:cubicBezTo>
                  <a:pt x="93871" y="91946"/>
                  <a:pt x="112001" y="82550"/>
                  <a:pt x="123811" y="67810"/>
                </a:cubicBezTo>
                <a:cubicBezTo>
                  <a:pt x="127000" y="63845"/>
                  <a:pt x="132775" y="63213"/>
                  <a:pt x="136740" y="66373"/>
                </a:cubicBezTo>
                <a:cubicBezTo>
                  <a:pt x="140706" y="69534"/>
                  <a:pt x="141338" y="75338"/>
                  <a:pt x="138177" y="79303"/>
                </a:cubicBezTo>
                <a:cubicBezTo>
                  <a:pt x="123035" y="98210"/>
                  <a:pt x="99704" y="110335"/>
                  <a:pt x="73585" y="110335"/>
                </a:cubicBezTo>
                <a:cubicBezTo>
                  <a:pt x="63414" y="110335"/>
                  <a:pt x="53645" y="108496"/>
                  <a:pt x="44651" y="105134"/>
                </a:cubicBezTo>
                <a:lnTo>
                  <a:pt x="28360" y="133235"/>
                </a:lnTo>
                <a:cubicBezTo>
                  <a:pt x="27009" y="135562"/>
                  <a:pt x="24998" y="137459"/>
                  <a:pt x="22584" y="138666"/>
                </a:cubicBezTo>
                <a:lnTo>
                  <a:pt x="6666" y="146625"/>
                </a:lnTo>
                <a:cubicBezTo>
                  <a:pt x="5229" y="147343"/>
                  <a:pt x="3534" y="147257"/>
                  <a:pt x="2184" y="146424"/>
                </a:cubicBezTo>
                <a:cubicBezTo>
                  <a:pt x="833" y="145590"/>
                  <a:pt x="0" y="144096"/>
                  <a:pt x="0" y="142516"/>
                </a:cubicBezTo>
                <a:lnTo>
                  <a:pt x="0" y="126598"/>
                </a:lnTo>
                <a:cubicBezTo>
                  <a:pt x="0" y="124184"/>
                  <a:pt x="632" y="121799"/>
                  <a:pt x="1868" y="119673"/>
                </a:cubicBezTo>
                <a:lnTo>
                  <a:pt x="19107" y="89877"/>
                </a:lnTo>
                <a:cubicBezTo>
                  <a:pt x="15430" y="86659"/>
                  <a:pt x="12039" y="83125"/>
                  <a:pt x="8965" y="79303"/>
                </a:cubicBezTo>
                <a:cubicBezTo>
                  <a:pt x="5775" y="75338"/>
                  <a:pt x="6436" y="69563"/>
                  <a:pt x="10401" y="66373"/>
                </a:cubicBezTo>
                <a:cubicBezTo>
                  <a:pt x="14367" y="63184"/>
                  <a:pt x="20142" y="63845"/>
                  <a:pt x="23331" y="67810"/>
                </a:cubicBezTo>
                <a:cubicBezTo>
                  <a:pt x="24969" y="69850"/>
                  <a:pt x="26722" y="71775"/>
                  <a:pt x="28561" y="73585"/>
                </a:cubicBezTo>
                <a:close/>
                <a:moveTo>
                  <a:pt x="109502" y="117202"/>
                </a:moveTo>
                <a:cubicBezTo>
                  <a:pt x="118840" y="113467"/>
                  <a:pt x="127431" y="108295"/>
                  <a:pt x="135045" y="102002"/>
                </a:cubicBezTo>
                <a:lnTo>
                  <a:pt x="145274" y="119673"/>
                </a:lnTo>
                <a:cubicBezTo>
                  <a:pt x="146481" y="121771"/>
                  <a:pt x="147142" y="124155"/>
                  <a:pt x="147142" y="126598"/>
                </a:cubicBezTo>
                <a:lnTo>
                  <a:pt x="147142" y="142516"/>
                </a:lnTo>
                <a:cubicBezTo>
                  <a:pt x="147142" y="144096"/>
                  <a:pt x="146309" y="145590"/>
                  <a:pt x="144958" y="146424"/>
                </a:cubicBezTo>
                <a:cubicBezTo>
                  <a:pt x="143608" y="147257"/>
                  <a:pt x="141912" y="147343"/>
                  <a:pt x="140476" y="146625"/>
                </a:cubicBezTo>
                <a:lnTo>
                  <a:pt x="124558" y="138666"/>
                </a:lnTo>
                <a:cubicBezTo>
                  <a:pt x="122144" y="137459"/>
                  <a:pt x="120133" y="135562"/>
                  <a:pt x="118782" y="133235"/>
                </a:cubicBezTo>
                <a:lnTo>
                  <a:pt x="109502" y="117202"/>
                </a:lnTo>
                <a:close/>
                <a:moveTo>
                  <a:pt x="73557" y="36778"/>
                </a:moveTo>
                <a:cubicBezTo>
                  <a:pt x="78631" y="36778"/>
                  <a:pt x="82751" y="32658"/>
                  <a:pt x="82751" y="27584"/>
                </a:cubicBezTo>
                <a:cubicBezTo>
                  <a:pt x="82751" y="22509"/>
                  <a:pt x="78631" y="18389"/>
                  <a:pt x="73557" y="18389"/>
                </a:cubicBezTo>
                <a:cubicBezTo>
                  <a:pt x="68482" y="18389"/>
                  <a:pt x="64362" y="22509"/>
                  <a:pt x="64362" y="27584"/>
                </a:cubicBezTo>
                <a:cubicBezTo>
                  <a:pt x="64362" y="32658"/>
                  <a:pt x="68482" y="36778"/>
                  <a:pt x="73557" y="36778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7" name="Text 25"/>
          <p:cNvSpPr/>
          <p:nvPr/>
        </p:nvSpPr>
        <p:spPr>
          <a:xfrm>
            <a:off x="5279216" y="4257086"/>
            <a:ext cx="89187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Design Doc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021768" y="4551312"/>
            <a:ext cx="1912471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设计文档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1768" y="4771982"/>
            <a:ext cx="1903276" cy="147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869" dirty="0">
                <a:solidFill>
                  <a:srgbClr val="E0E2E5">
                    <a:alpha val="5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架构、接口、数据模型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7357955" y="1365394"/>
            <a:ext cx="4468561" cy="3025014"/>
          </a:xfrm>
          <a:prstGeom prst="roundRect">
            <a:avLst>
              <a:gd name="adj" fmla="val 2432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7819" y="1590661"/>
            <a:ext cx="193086" cy="220670"/>
          </a:xfrm>
          <a:custGeom>
            <a:avLst/>
            <a:gdLst/>
            <a:ahLst/>
            <a:cxnLst/>
            <a:rect l="l" t="t" r="r" b="b"/>
            <a:pathLst>
              <a:path w="193086" h="220670">
                <a:moveTo>
                  <a:pt x="34480" y="44824"/>
                </a:moveTo>
                <a:cubicBezTo>
                  <a:pt x="40189" y="44824"/>
                  <a:pt x="44824" y="40189"/>
                  <a:pt x="44824" y="34480"/>
                </a:cubicBezTo>
                <a:cubicBezTo>
                  <a:pt x="44824" y="28771"/>
                  <a:pt x="40189" y="24136"/>
                  <a:pt x="34480" y="24136"/>
                </a:cubicBezTo>
                <a:cubicBezTo>
                  <a:pt x="28771" y="24136"/>
                  <a:pt x="24136" y="28771"/>
                  <a:pt x="24136" y="34480"/>
                </a:cubicBezTo>
                <a:cubicBezTo>
                  <a:pt x="24136" y="40189"/>
                  <a:pt x="28771" y="44824"/>
                  <a:pt x="34480" y="44824"/>
                </a:cubicBezTo>
                <a:close/>
                <a:moveTo>
                  <a:pt x="68959" y="34480"/>
                </a:moveTo>
                <a:cubicBezTo>
                  <a:pt x="68959" y="48616"/>
                  <a:pt x="60469" y="60770"/>
                  <a:pt x="48271" y="66072"/>
                </a:cubicBezTo>
                <a:lnTo>
                  <a:pt x="48271" y="96543"/>
                </a:lnTo>
                <a:lnTo>
                  <a:pt x="124127" y="96543"/>
                </a:lnTo>
                <a:cubicBezTo>
                  <a:pt x="135548" y="96543"/>
                  <a:pt x="144814" y="87277"/>
                  <a:pt x="144814" y="75855"/>
                </a:cubicBezTo>
                <a:lnTo>
                  <a:pt x="144814" y="66072"/>
                </a:lnTo>
                <a:cubicBezTo>
                  <a:pt x="132617" y="60770"/>
                  <a:pt x="124127" y="48616"/>
                  <a:pt x="124127" y="34480"/>
                </a:cubicBezTo>
                <a:cubicBezTo>
                  <a:pt x="124127" y="15430"/>
                  <a:pt x="139556" y="0"/>
                  <a:pt x="158606" y="0"/>
                </a:cubicBezTo>
                <a:cubicBezTo>
                  <a:pt x="177656" y="0"/>
                  <a:pt x="193086" y="15430"/>
                  <a:pt x="193086" y="34480"/>
                </a:cubicBezTo>
                <a:cubicBezTo>
                  <a:pt x="193086" y="48616"/>
                  <a:pt x="184595" y="60770"/>
                  <a:pt x="172398" y="66072"/>
                </a:cubicBezTo>
                <a:lnTo>
                  <a:pt x="172398" y="75855"/>
                </a:lnTo>
                <a:cubicBezTo>
                  <a:pt x="172398" y="102534"/>
                  <a:pt x="150805" y="124127"/>
                  <a:pt x="124127" y="124127"/>
                </a:cubicBezTo>
                <a:lnTo>
                  <a:pt x="48271" y="124127"/>
                </a:lnTo>
                <a:lnTo>
                  <a:pt x="48271" y="154598"/>
                </a:lnTo>
                <a:cubicBezTo>
                  <a:pt x="60469" y="159899"/>
                  <a:pt x="68959" y="172053"/>
                  <a:pt x="68959" y="186190"/>
                </a:cubicBezTo>
                <a:cubicBezTo>
                  <a:pt x="68959" y="205240"/>
                  <a:pt x="53530" y="220670"/>
                  <a:pt x="34480" y="220670"/>
                </a:cubicBezTo>
                <a:cubicBezTo>
                  <a:pt x="15430" y="220670"/>
                  <a:pt x="0" y="205240"/>
                  <a:pt x="0" y="186190"/>
                </a:cubicBezTo>
                <a:cubicBezTo>
                  <a:pt x="0" y="172053"/>
                  <a:pt x="8491" y="159899"/>
                  <a:pt x="20688" y="154598"/>
                </a:cubicBezTo>
                <a:lnTo>
                  <a:pt x="20688" y="66115"/>
                </a:lnTo>
                <a:cubicBezTo>
                  <a:pt x="8491" y="60770"/>
                  <a:pt x="0" y="48616"/>
                  <a:pt x="0" y="34480"/>
                </a:cubicBezTo>
                <a:cubicBezTo>
                  <a:pt x="0" y="15430"/>
                  <a:pt x="15430" y="0"/>
                  <a:pt x="34480" y="0"/>
                </a:cubicBezTo>
                <a:cubicBezTo>
                  <a:pt x="53530" y="0"/>
                  <a:pt x="68959" y="15430"/>
                  <a:pt x="68959" y="34480"/>
                </a:cubicBezTo>
                <a:close/>
                <a:moveTo>
                  <a:pt x="168950" y="34480"/>
                </a:moveTo>
                <a:cubicBezTo>
                  <a:pt x="168950" y="28771"/>
                  <a:pt x="164315" y="24136"/>
                  <a:pt x="158606" y="24136"/>
                </a:cubicBezTo>
                <a:cubicBezTo>
                  <a:pt x="152897" y="24136"/>
                  <a:pt x="148262" y="28771"/>
                  <a:pt x="148262" y="34480"/>
                </a:cubicBezTo>
                <a:cubicBezTo>
                  <a:pt x="148262" y="40189"/>
                  <a:pt x="152897" y="44824"/>
                  <a:pt x="158606" y="44824"/>
                </a:cubicBezTo>
                <a:cubicBezTo>
                  <a:pt x="164315" y="44824"/>
                  <a:pt x="168950" y="40189"/>
                  <a:pt x="168950" y="34480"/>
                </a:cubicBezTo>
                <a:close/>
                <a:moveTo>
                  <a:pt x="34480" y="196534"/>
                </a:moveTo>
                <a:cubicBezTo>
                  <a:pt x="40189" y="196534"/>
                  <a:pt x="44824" y="191899"/>
                  <a:pt x="44824" y="186190"/>
                </a:cubicBezTo>
                <a:cubicBezTo>
                  <a:pt x="44824" y="180481"/>
                  <a:pt x="40189" y="175846"/>
                  <a:pt x="34480" y="175846"/>
                </a:cubicBezTo>
                <a:cubicBezTo>
                  <a:pt x="28771" y="175846"/>
                  <a:pt x="24136" y="180481"/>
                  <a:pt x="24136" y="186190"/>
                </a:cubicBezTo>
                <a:cubicBezTo>
                  <a:pt x="24136" y="191899"/>
                  <a:pt x="28771" y="196534"/>
                  <a:pt x="34480" y="196534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32" name="Text 30"/>
          <p:cNvSpPr/>
          <p:nvPr/>
        </p:nvSpPr>
        <p:spPr>
          <a:xfrm>
            <a:off x="7932615" y="1553882"/>
            <a:ext cx="1213683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文档即代码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546443" y="1995222"/>
            <a:ext cx="4091584" cy="662009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4" name="Text 32"/>
          <p:cNvSpPr/>
          <p:nvPr/>
        </p:nvSpPr>
        <p:spPr>
          <a:xfrm>
            <a:off x="7656778" y="2105557"/>
            <a:ext cx="394447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版本控制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656778" y="2363005"/>
            <a:ext cx="393527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将文档纳入Git管理，与代码同步演进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546443" y="2767566"/>
            <a:ext cx="4091584" cy="662009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7" name="Text 35"/>
          <p:cNvSpPr/>
          <p:nvPr/>
        </p:nvSpPr>
        <p:spPr>
          <a:xfrm>
            <a:off x="7656778" y="2877900"/>
            <a:ext cx="394447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结构化格式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56778" y="3135348"/>
            <a:ext cx="393527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Markdown + YAML/JSON，机器可读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546443" y="3539910"/>
            <a:ext cx="4091584" cy="662009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40" name="Text 38"/>
          <p:cNvSpPr/>
          <p:nvPr/>
        </p:nvSpPr>
        <p:spPr>
          <a:xfrm>
            <a:off x="7656778" y="3650244"/>
            <a:ext cx="394447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文档评审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656778" y="3907692"/>
            <a:ext cx="3935276" cy="1838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14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纳入代码评审流程，确保质量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57955" y="4546715"/>
            <a:ext cx="4468561" cy="1627439"/>
          </a:xfrm>
          <a:prstGeom prst="roundRect">
            <a:avLst>
              <a:gd name="adj" fmla="val 4520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80ED99">
                <a:alpha val="30196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74027" y="4771982"/>
            <a:ext cx="220670" cy="220670"/>
          </a:xfrm>
          <a:custGeom>
            <a:avLst/>
            <a:gdLst/>
            <a:ahLst/>
            <a:cxnLst/>
            <a:rect l="l" t="t" r="r" b="b"/>
            <a:pathLst>
              <a:path w="220670" h="220670">
                <a:moveTo>
                  <a:pt x="100206" y="2241"/>
                </a:moveTo>
                <a:cubicBezTo>
                  <a:pt x="106628" y="-733"/>
                  <a:pt x="114041" y="-733"/>
                  <a:pt x="120463" y="2241"/>
                </a:cubicBezTo>
                <a:lnTo>
                  <a:pt x="214679" y="45772"/>
                </a:lnTo>
                <a:cubicBezTo>
                  <a:pt x="218342" y="47453"/>
                  <a:pt x="220670" y="51116"/>
                  <a:pt x="220670" y="55167"/>
                </a:cubicBezTo>
                <a:cubicBezTo>
                  <a:pt x="220670" y="59219"/>
                  <a:pt x="218342" y="62882"/>
                  <a:pt x="214679" y="64563"/>
                </a:cubicBezTo>
                <a:lnTo>
                  <a:pt x="120463" y="108094"/>
                </a:lnTo>
                <a:cubicBezTo>
                  <a:pt x="114041" y="111068"/>
                  <a:pt x="106628" y="111068"/>
                  <a:pt x="100206" y="108094"/>
                </a:cubicBezTo>
                <a:lnTo>
                  <a:pt x="5991" y="64563"/>
                </a:lnTo>
                <a:cubicBezTo>
                  <a:pt x="2327" y="62839"/>
                  <a:pt x="0" y="59176"/>
                  <a:pt x="0" y="55167"/>
                </a:cubicBezTo>
                <a:cubicBezTo>
                  <a:pt x="0" y="51159"/>
                  <a:pt x="2327" y="47453"/>
                  <a:pt x="5991" y="45772"/>
                </a:cubicBezTo>
                <a:lnTo>
                  <a:pt x="100206" y="2241"/>
                </a:lnTo>
                <a:close/>
                <a:moveTo>
                  <a:pt x="20731" y="94129"/>
                </a:moveTo>
                <a:lnTo>
                  <a:pt x="91543" y="126842"/>
                </a:lnTo>
                <a:cubicBezTo>
                  <a:pt x="103482" y="132359"/>
                  <a:pt x="117231" y="132359"/>
                  <a:pt x="129169" y="126842"/>
                </a:cubicBezTo>
                <a:lnTo>
                  <a:pt x="199982" y="94129"/>
                </a:lnTo>
                <a:lnTo>
                  <a:pt x="214679" y="100939"/>
                </a:lnTo>
                <a:cubicBezTo>
                  <a:pt x="218342" y="102620"/>
                  <a:pt x="220670" y="106283"/>
                  <a:pt x="220670" y="110335"/>
                </a:cubicBezTo>
                <a:cubicBezTo>
                  <a:pt x="220670" y="114386"/>
                  <a:pt x="218342" y="118050"/>
                  <a:pt x="214679" y="119731"/>
                </a:cubicBezTo>
                <a:lnTo>
                  <a:pt x="120463" y="163261"/>
                </a:lnTo>
                <a:cubicBezTo>
                  <a:pt x="114041" y="166235"/>
                  <a:pt x="106628" y="166235"/>
                  <a:pt x="100206" y="163261"/>
                </a:cubicBezTo>
                <a:lnTo>
                  <a:pt x="5991" y="119731"/>
                </a:lnTo>
                <a:cubicBezTo>
                  <a:pt x="2327" y="118007"/>
                  <a:pt x="0" y="114343"/>
                  <a:pt x="0" y="110335"/>
                </a:cubicBezTo>
                <a:cubicBezTo>
                  <a:pt x="0" y="106327"/>
                  <a:pt x="2327" y="102620"/>
                  <a:pt x="5991" y="100939"/>
                </a:cubicBezTo>
                <a:lnTo>
                  <a:pt x="20688" y="94129"/>
                </a:lnTo>
                <a:close/>
                <a:moveTo>
                  <a:pt x="5991" y="156107"/>
                </a:moveTo>
                <a:lnTo>
                  <a:pt x="20688" y="149297"/>
                </a:lnTo>
                <a:lnTo>
                  <a:pt x="91500" y="182009"/>
                </a:lnTo>
                <a:cubicBezTo>
                  <a:pt x="103439" y="187526"/>
                  <a:pt x="117188" y="187526"/>
                  <a:pt x="129126" y="182009"/>
                </a:cubicBezTo>
                <a:lnTo>
                  <a:pt x="199939" y="149297"/>
                </a:lnTo>
                <a:lnTo>
                  <a:pt x="214636" y="156107"/>
                </a:lnTo>
                <a:cubicBezTo>
                  <a:pt x="218299" y="157787"/>
                  <a:pt x="220627" y="161451"/>
                  <a:pt x="220627" y="165502"/>
                </a:cubicBezTo>
                <a:cubicBezTo>
                  <a:pt x="220627" y="169554"/>
                  <a:pt x="218299" y="173217"/>
                  <a:pt x="214636" y="174898"/>
                </a:cubicBezTo>
                <a:lnTo>
                  <a:pt x="120420" y="218429"/>
                </a:lnTo>
                <a:cubicBezTo>
                  <a:pt x="113998" y="221402"/>
                  <a:pt x="106585" y="221402"/>
                  <a:pt x="100163" y="218429"/>
                </a:cubicBezTo>
                <a:lnTo>
                  <a:pt x="5991" y="174898"/>
                </a:lnTo>
                <a:cubicBezTo>
                  <a:pt x="2327" y="173174"/>
                  <a:pt x="0" y="169511"/>
                  <a:pt x="0" y="165502"/>
                </a:cubicBezTo>
                <a:cubicBezTo>
                  <a:pt x="0" y="161494"/>
                  <a:pt x="2327" y="157787"/>
                  <a:pt x="5991" y="156107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44" name="Text 42"/>
          <p:cNvSpPr/>
          <p:nvPr/>
        </p:nvSpPr>
        <p:spPr>
          <a:xfrm>
            <a:off x="7932615" y="4735204"/>
            <a:ext cx="1213683" cy="2942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38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上下文管理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546443" y="5231710"/>
            <a:ext cx="110335" cy="110335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46" name="Text 44"/>
          <p:cNvSpPr/>
          <p:nvPr/>
        </p:nvSpPr>
        <p:spPr>
          <a:xfrm>
            <a:off x="7767113" y="5176543"/>
            <a:ext cx="1857303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项目级</a:t>
            </a:r>
            <a:pPr>
              <a:lnSpc>
                <a:spcPct val="120000"/>
              </a:lnSpc>
            </a:pPr>
            <a:r>
              <a:rPr lang="en-US" sz="115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：README、架构图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546443" y="5525937"/>
            <a:ext cx="110335" cy="110335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48" name="Text 46"/>
          <p:cNvSpPr/>
          <p:nvPr/>
        </p:nvSpPr>
        <p:spPr>
          <a:xfrm>
            <a:off x="7767113" y="5470769"/>
            <a:ext cx="1921665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模块级</a:t>
            </a:r>
            <a:pPr>
              <a:lnSpc>
                <a:spcPct val="120000"/>
              </a:lnSpc>
            </a:pPr>
            <a:r>
              <a:rPr lang="en-US" sz="115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：API文档、数据流图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7546443" y="5820163"/>
            <a:ext cx="110335" cy="110335"/>
          </a:xfrm>
          <a:prstGeom prst="roundRect">
            <a:avLst>
              <a:gd name="adj" fmla="val 50000"/>
            </a:avLst>
          </a:prstGeom>
          <a:solidFill>
            <a:srgbClr val="22577A"/>
          </a:solidFill>
          <a:ln/>
        </p:spPr>
      </p:sp>
      <p:sp>
        <p:nvSpPr>
          <p:cNvPr id="50" name="Text 48"/>
          <p:cNvSpPr/>
          <p:nvPr/>
        </p:nvSpPr>
        <p:spPr>
          <a:xfrm>
            <a:off x="7767113" y="5764995"/>
            <a:ext cx="2445756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任务级</a:t>
            </a:r>
            <a:pPr>
              <a:lnSpc>
                <a:spcPct val="120000"/>
              </a:lnSpc>
            </a:pPr>
            <a:r>
              <a:rPr lang="en-US" sz="1158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：PR描述、commit message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72380" y="6330462"/>
            <a:ext cx="11447240" cy="524090"/>
          </a:xfrm>
          <a:prstGeom prst="roundRect">
            <a:avLst>
              <a:gd name="adj" fmla="val 14035"/>
            </a:avLst>
          </a:prstGeom>
          <a:solidFill>
            <a:srgbClr val="80ED99">
              <a:alpha val="10196"/>
            </a:srgbClr>
          </a:solidFill>
          <a:ln w="12700">
            <a:solidFill>
              <a:srgbClr val="80ED99">
                <a:alpha val="50196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60869" y="6523548"/>
            <a:ext cx="110335" cy="147113"/>
          </a:xfrm>
          <a:custGeom>
            <a:avLst/>
            <a:gdLst/>
            <a:ahLst/>
            <a:cxnLst/>
            <a:rect l="l" t="t" r="r" b="b"/>
            <a:pathLst>
              <a:path w="110335" h="147113">
                <a:moveTo>
                  <a:pt x="84159" y="110335"/>
                </a:moveTo>
                <a:cubicBezTo>
                  <a:pt x="86257" y="103927"/>
                  <a:pt x="90452" y="98123"/>
                  <a:pt x="95193" y="93124"/>
                </a:cubicBezTo>
                <a:cubicBezTo>
                  <a:pt x="104588" y="83240"/>
                  <a:pt x="110335" y="69879"/>
                  <a:pt x="110335" y="55167"/>
                </a:cubicBezTo>
                <a:cubicBezTo>
                  <a:pt x="110335" y="24710"/>
                  <a:pt x="85624" y="0"/>
                  <a:pt x="55167" y="0"/>
                </a:cubicBezTo>
                <a:cubicBezTo>
                  <a:pt x="24710" y="0"/>
                  <a:pt x="0" y="24710"/>
                  <a:pt x="0" y="55167"/>
                </a:cubicBezTo>
                <a:cubicBezTo>
                  <a:pt x="0" y="69879"/>
                  <a:pt x="5747" y="83240"/>
                  <a:pt x="15142" y="93124"/>
                </a:cubicBezTo>
                <a:cubicBezTo>
                  <a:pt x="19883" y="98123"/>
                  <a:pt x="24107" y="103927"/>
                  <a:pt x="26176" y="110335"/>
                </a:cubicBezTo>
                <a:lnTo>
                  <a:pt x="84130" y="110335"/>
                </a:lnTo>
                <a:close/>
                <a:moveTo>
                  <a:pt x="82751" y="124127"/>
                </a:moveTo>
                <a:lnTo>
                  <a:pt x="27584" y="124127"/>
                </a:lnTo>
                <a:lnTo>
                  <a:pt x="27584" y="128724"/>
                </a:lnTo>
                <a:cubicBezTo>
                  <a:pt x="27584" y="141424"/>
                  <a:pt x="37870" y="151710"/>
                  <a:pt x="50570" y="151710"/>
                </a:cubicBezTo>
                <a:lnTo>
                  <a:pt x="59765" y="151710"/>
                </a:lnTo>
                <a:cubicBezTo>
                  <a:pt x="72465" y="151710"/>
                  <a:pt x="82751" y="141424"/>
                  <a:pt x="82751" y="128724"/>
                </a:cubicBezTo>
                <a:lnTo>
                  <a:pt x="82751" y="124127"/>
                </a:lnTo>
                <a:close/>
                <a:moveTo>
                  <a:pt x="52869" y="32181"/>
                </a:moveTo>
                <a:cubicBezTo>
                  <a:pt x="41433" y="32181"/>
                  <a:pt x="32181" y="41433"/>
                  <a:pt x="32181" y="52869"/>
                </a:cubicBezTo>
                <a:cubicBezTo>
                  <a:pt x="32181" y="56690"/>
                  <a:pt x="29107" y="59765"/>
                  <a:pt x="25285" y="59765"/>
                </a:cubicBezTo>
                <a:cubicBezTo>
                  <a:pt x="21464" y="59765"/>
                  <a:pt x="18389" y="56690"/>
                  <a:pt x="18389" y="52869"/>
                </a:cubicBezTo>
                <a:cubicBezTo>
                  <a:pt x="18389" y="33819"/>
                  <a:pt x="33819" y="18389"/>
                  <a:pt x="52869" y="18389"/>
                </a:cubicBezTo>
                <a:cubicBezTo>
                  <a:pt x="56690" y="18389"/>
                  <a:pt x="59765" y="21464"/>
                  <a:pt x="59765" y="25285"/>
                </a:cubicBezTo>
                <a:cubicBezTo>
                  <a:pt x="59765" y="29107"/>
                  <a:pt x="56690" y="32181"/>
                  <a:pt x="52869" y="32181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53" name="Text 51"/>
          <p:cNvSpPr/>
          <p:nvPr/>
        </p:nvSpPr>
        <p:spPr>
          <a:xfrm>
            <a:off x="761236" y="6482172"/>
            <a:ext cx="10980231" cy="22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58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pPr>
              <a:lnSpc>
                <a:spcPct val="120000"/>
              </a:lnSpc>
            </a:pPr>
            <a:r>
              <a:rPr lang="en-US" sz="1158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：新成员 onboarding 时间从 2 周缩短到 2 天，因为所有知识都在文档里，而不是某些人的大脑里。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8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81000" y="16764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5" name="Text 2"/>
          <p:cNvSpPr/>
          <p:nvPr/>
        </p:nvSpPr>
        <p:spPr>
          <a:xfrm>
            <a:off x="266700" y="1676400"/>
            <a:ext cx="114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600" dirty="0">
                <a:solidFill>
                  <a:srgbClr val="0F111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05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524000" y="2114550"/>
            <a:ext cx="10287000" cy="3810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7" name="Text 4"/>
          <p:cNvSpPr/>
          <p:nvPr/>
        </p:nvSpPr>
        <p:spPr>
          <a:xfrm>
            <a:off x="381000" y="28956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可观测性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飞轮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81000" y="48387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用数据证明你的飞轮在加速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4757" y="364757"/>
            <a:ext cx="11535438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spc="115" kern="0" dirty="0">
                <a:solidFill>
                  <a:srgbClr val="38A3A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OBSERVABILITY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64757" y="656562"/>
            <a:ext cx="11626627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85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可观测性：度量飞轮的转速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64757" y="1130746"/>
            <a:ext cx="729514" cy="36476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5" name="Shape 3"/>
          <p:cNvSpPr/>
          <p:nvPr/>
        </p:nvSpPr>
        <p:spPr>
          <a:xfrm>
            <a:off x="369316" y="1354160"/>
            <a:ext cx="5608138" cy="3109553"/>
          </a:xfrm>
          <a:prstGeom prst="roundRect">
            <a:avLst>
              <a:gd name="adj" fmla="val 2346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9933" y="1577574"/>
            <a:ext cx="246211" cy="218854"/>
          </a:xfrm>
          <a:custGeom>
            <a:avLst/>
            <a:gdLst/>
            <a:ahLst/>
            <a:cxnLst/>
            <a:rect l="l" t="t" r="r" b="b"/>
            <a:pathLst>
              <a:path w="246211" h="218854">
                <a:moveTo>
                  <a:pt x="123105" y="13678"/>
                </a:moveTo>
                <a:cubicBezTo>
                  <a:pt x="88568" y="13678"/>
                  <a:pt x="60912" y="29409"/>
                  <a:pt x="40779" y="48131"/>
                </a:cubicBezTo>
                <a:cubicBezTo>
                  <a:pt x="20774" y="66725"/>
                  <a:pt x="7395" y="88909"/>
                  <a:pt x="1026" y="104169"/>
                </a:cubicBezTo>
                <a:cubicBezTo>
                  <a:pt x="-385" y="107546"/>
                  <a:pt x="-385" y="111308"/>
                  <a:pt x="1026" y="114685"/>
                </a:cubicBezTo>
                <a:cubicBezTo>
                  <a:pt x="7395" y="129945"/>
                  <a:pt x="20774" y="152172"/>
                  <a:pt x="40779" y="170723"/>
                </a:cubicBezTo>
                <a:cubicBezTo>
                  <a:pt x="60912" y="189403"/>
                  <a:pt x="88568" y="205176"/>
                  <a:pt x="123105" y="205176"/>
                </a:cubicBezTo>
                <a:cubicBezTo>
                  <a:pt x="157643" y="205176"/>
                  <a:pt x="185299" y="189446"/>
                  <a:pt x="205432" y="170723"/>
                </a:cubicBezTo>
                <a:cubicBezTo>
                  <a:pt x="225437" y="152129"/>
                  <a:pt x="238816" y="129945"/>
                  <a:pt x="245185" y="114685"/>
                </a:cubicBezTo>
                <a:cubicBezTo>
                  <a:pt x="246596" y="111308"/>
                  <a:pt x="246596" y="107546"/>
                  <a:pt x="245185" y="104169"/>
                </a:cubicBezTo>
                <a:cubicBezTo>
                  <a:pt x="238816" y="88909"/>
                  <a:pt x="225437" y="66682"/>
                  <a:pt x="205432" y="48131"/>
                </a:cubicBezTo>
                <a:cubicBezTo>
                  <a:pt x="185299" y="29451"/>
                  <a:pt x="157643" y="13678"/>
                  <a:pt x="123105" y="13678"/>
                </a:cubicBezTo>
                <a:close/>
                <a:moveTo>
                  <a:pt x="61553" y="109427"/>
                </a:moveTo>
                <a:cubicBezTo>
                  <a:pt x="61553" y="75455"/>
                  <a:pt x="89134" y="47874"/>
                  <a:pt x="123105" y="47874"/>
                </a:cubicBezTo>
                <a:cubicBezTo>
                  <a:pt x="157077" y="47874"/>
                  <a:pt x="184658" y="75455"/>
                  <a:pt x="184658" y="109427"/>
                </a:cubicBezTo>
                <a:cubicBezTo>
                  <a:pt x="184658" y="143399"/>
                  <a:pt x="157077" y="170980"/>
                  <a:pt x="123105" y="170980"/>
                </a:cubicBezTo>
                <a:cubicBezTo>
                  <a:pt x="89134" y="170980"/>
                  <a:pt x="61553" y="143399"/>
                  <a:pt x="61553" y="109427"/>
                </a:cubicBezTo>
                <a:close/>
                <a:moveTo>
                  <a:pt x="123105" y="82070"/>
                </a:moveTo>
                <a:cubicBezTo>
                  <a:pt x="123105" y="97159"/>
                  <a:pt x="110838" y="109427"/>
                  <a:pt x="95749" y="109427"/>
                </a:cubicBezTo>
                <a:cubicBezTo>
                  <a:pt x="90833" y="109427"/>
                  <a:pt x="86217" y="108145"/>
                  <a:pt x="82199" y="105836"/>
                </a:cubicBezTo>
                <a:cubicBezTo>
                  <a:pt x="81771" y="110496"/>
                  <a:pt x="82156" y="115283"/>
                  <a:pt x="83438" y="120028"/>
                </a:cubicBezTo>
                <a:cubicBezTo>
                  <a:pt x="89294" y="141913"/>
                  <a:pt x="111821" y="154908"/>
                  <a:pt x="133706" y="149052"/>
                </a:cubicBezTo>
                <a:cubicBezTo>
                  <a:pt x="155592" y="143196"/>
                  <a:pt x="168586" y="120669"/>
                  <a:pt x="162730" y="98784"/>
                </a:cubicBezTo>
                <a:cubicBezTo>
                  <a:pt x="157515" y="79249"/>
                  <a:pt x="139007" y="66810"/>
                  <a:pt x="119515" y="68520"/>
                </a:cubicBezTo>
                <a:cubicBezTo>
                  <a:pt x="121780" y="72495"/>
                  <a:pt x="123105" y="77112"/>
                  <a:pt x="123105" y="8207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7" name="Text 5"/>
          <p:cNvSpPr/>
          <p:nvPr/>
        </p:nvSpPr>
        <p:spPr>
          <a:xfrm>
            <a:off x="939249" y="1541098"/>
            <a:ext cx="1860260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可观测性三大支柱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4492" y="1978806"/>
            <a:ext cx="5216024" cy="693038"/>
          </a:xfrm>
          <a:custGeom>
            <a:avLst/>
            <a:gdLst/>
            <a:ahLst/>
            <a:cxnLst/>
            <a:rect l="l" t="t" r="r" b="b"/>
            <a:pathLst>
              <a:path w="5216024" h="693038">
                <a:moveTo>
                  <a:pt x="36449" y="0"/>
                </a:moveTo>
                <a:lnTo>
                  <a:pt x="5143119" y="0"/>
                </a:lnTo>
                <a:cubicBezTo>
                  <a:pt x="5183379" y="0"/>
                  <a:pt x="5216017" y="32638"/>
                  <a:pt x="5216017" y="72898"/>
                </a:cubicBezTo>
                <a:lnTo>
                  <a:pt x="5216017" y="620141"/>
                </a:lnTo>
                <a:cubicBezTo>
                  <a:pt x="5216017" y="660401"/>
                  <a:pt x="5183379" y="693039"/>
                  <a:pt x="5143119" y="693039"/>
                </a:cubicBezTo>
                <a:lnTo>
                  <a:pt x="36449" y="693039"/>
                </a:lnTo>
                <a:cubicBezTo>
                  <a:pt x="16319" y="693039"/>
                  <a:pt x="0" y="676720"/>
                  <a:pt x="0" y="656590"/>
                </a:cubicBezTo>
                <a:lnTo>
                  <a:pt x="0" y="36449"/>
                </a:lnTo>
                <a:cubicBezTo>
                  <a:pt x="0" y="16319"/>
                  <a:pt x="16319" y="0"/>
                  <a:pt x="36449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9" name="Shape 7"/>
          <p:cNvSpPr/>
          <p:nvPr/>
        </p:nvSpPr>
        <p:spPr>
          <a:xfrm>
            <a:off x="574492" y="1978806"/>
            <a:ext cx="36476" cy="693038"/>
          </a:xfrm>
          <a:custGeom>
            <a:avLst/>
            <a:gdLst/>
            <a:ahLst/>
            <a:cxnLst/>
            <a:rect l="l" t="t" r="r" b="b"/>
            <a:pathLst>
              <a:path w="36476" h="693038">
                <a:moveTo>
                  <a:pt x="36449" y="0"/>
                </a:moveTo>
                <a:lnTo>
                  <a:pt x="36449" y="0"/>
                </a:lnTo>
                <a:lnTo>
                  <a:pt x="36449" y="693039"/>
                </a:lnTo>
                <a:lnTo>
                  <a:pt x="36449" y="693039"/>
                </a:lnTo>
                <a:cubicBezTo>
                  <a:pt x="16319" y="693039"/>
                  <a:pt x="0" y="676720"/>
                  <a:pt x="0" y="656590"/>
                </a:cubicBezTo>
                <a:lnTo>
                  <a:pt x="0" y="36449"/>
                </a:lnTo>
                <a:cubicBezTo>
                  <a:pt x="0" y="16319"/>
                  <a:pt x="16319" y="0"/>
                  <a:pt x="36449" y="0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" name="Shape 8"/>
          <p:cNvSpPr/>
          <p:nvPr/>
        </p:nvSpPr>
        <p:spPr>
          <a:xfrm>
            <a:off x="738633" y="2142947"/>
            <a:ext cx="109427" cy="145903"/>
          </a:xfrm>
          <a:custGeom>
            <a:avLst/>
            <a:gdLst/>
            <a:ahLst/>
            <a:cxnLst/>
            <a:rect l="l" t="t" r="r" b="b"/>
            <a:pathLst>
              <a:path w="109427" h="145903">
                <a:moveTo>
                  <a:pt x="0" y="18238"/>
                </a:moveTo>
                <a:cubicBezTo>
                  <a:pt x="0" y="8179"/>
                  <a:pt x="8179" y="0"/>
                  <a:pt x="18238" y="0"/>
                </a:cubicBezTo>
                <a:lnTo>
                  <a:pt x="60840" y="0"/>
                </a:lnTo>
                <a:cubicBezTo>
                  <a:pt x="65685" y="0"/>
                  <a:pt x="70330" y="1909"/>
                  <a:pt x="73749" y="5329"/>
                </a:cubicBezTo>
                <a:lnTo>
                  <a:pt x="104098" y="35706"/>
                </a:lnTo>
                <a:cubicBezTo>
                  <a:pt x="107518" y="39126"/>
                  <a:pt x="109427" y="43771"/>
                  <a:pt x="109427" y="48615"/>
                </a:cubicBezTo>
                <a:lnTo>
                  <a:pt x="109427" y="127665"/>
                </a:lnTo>
                <a:cubicBezTo>
                  <a:pt x="109427" y="137724"/>
                  <a:pt x="101249" y="145903"/>
                  <a:pt x="91189" y="145903"/>
                </a:cubicBezTo>
                <a:lnTo>
                  <a:pt x="18238" y="145903"/>
                </a:lnTo>
                <a:cubicBezTo>
                  <a:pt x="8179" y="145903"/>
                  <a:pt x="0" y="137724"/>
                  <a:pt x="0" y="127665"/>
                </a:cubicBezTo>
                <a:lnTo>
                  <a:pt x="0" y="18238"/>
                </a:lnTo>
                <a:close/>
                <a:moveTo>
                  <a:pt x="59273" y="16671"/>
                </a:moveTo>
                <a:lnTo>
                  <a:pt x="59273" y="43315"/>
                </a:lnTo>
                <a:cubicBezTo>
                  <a:pt x="59273" y="47105"/>
                  <a:pt x="62322" y="50154"/>
                  <a:pt x="66112" y="50154"/>
                </a:cubicBezTo>
                <a:lnTo>
                  <a:pt x="92757" y="50154"/>
                </a:lnTo>
                <a:lnTo>
                  <a:pt x="59273" y="16671"/>
                </a:lnTo>
                <a:close/>
                <a:moveTo>
                  <a:pt x="34196" y="72951"/>
                </a:moveTo>
                <a:cubicBezTo>
                  <a:pt x="30406" y="72951"/>
                  <a:pt x="27357" y="76001"/>
                  <a:pt x="27357" y="79791"/>
                </a:cubicBezTo>
                <a:cubicBezTo>
                  <a:pt x="27357" y="83581"/>
                  <a:pt x="30406" y="86630"/>
                  <a:pt x="34196" y="86630"/>
                </a:cubicBezTo>
                <a:lnTo>
                  <a:pt x="75231" y="86630"/>
                </a:lnTo>
                <a:cubicBezTo>
                  <a:pt x="79021" y="86630"/>
                  <a:pt x="82070" y="83581"/>
                  <a:pt x="82070" y="79791"/>
                </a:cubicBezTo>
                <a:cubicBezTo>
                  <a:pt x="82070" y="76001"/>
                  <a:pt x="79021" y="72951"/>
                  <a:pt x="75231" y="72951"/>
                </a:cubicBezTo>
                <a:lnTo>
                  <a:pt x="34196" y="72951"/>
                </a:lnTo>
                <a:close/>
                <a:moveTo>
                  <a:pt x="34196" y="100308"/>
                </a:moveTo>
                <a:cubicBezTo>
                  <a:pt x="30406" y="100308"/>
                  <a:pt x="27357" y="103357"/>
                  <a:pt x="27357" y="107147"/>
                </a:cubicBezTo>
                <a:cubicBezTo>
                  <a:pt x="27357" y="110937"/>
                  <a:pt x="30406" y="113987"/>
                  <a:pt x="34196" y="113987"/>
                </a:cubicBezTo>
                <a:lnTo>
                  <a:pt x="75231" y="113987"/>
                </a:lnTo>
                <a:cubicBezTo>
                  <a:pt x="79021" y="113987"/>
                  <a:pt x="82070" y="110937"/>
                  <a:pt x="82070" y="107147"/>
                </a:cubicBezTo>
                <a:cubicBezTo>
                  <a:pt x="82070" y="103357"/>
                  <a:pt x="79021" y="100308"/>
                  <a:pt x="75231" y="100308"/>
                </a:cubicBezTo>
                <a:lnTo>
                  <a:pt x="34196" y="100308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1" name="Text 9"/>
          <p:cNvSpPr/>
          <p:nvPr/>
        </p:nvSpPr>
        <p:spPr>
          <a:xfrm>
            <a:off x="957487" y="2088233"/>
            <a:ext cx="848060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 Logs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2157" y="2380039"/>
            <a:ext cx="504276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结构化日志，记录关键路径，便于排查问题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74492" y="2781272"/>
            <a:ext cx="5216024" cy="693038"/>
          </a:xfrm>
          <a:custGeom>
            <a:avLst/>
            <a:gdLst/>
            <a:ahLst/>
            <a:cxnLst/>
            <a:rect l="l" t="t" r="r" b="b"/>
            <a:pathLst>
              <a:path w="5216024" h="693038">
                <a:moveTo>
                  <a:pt x="36449" y="0"/>
                </a:moveTo>
                <a:lnTo>
                  <a:pt x="5143119" y="0"/>
                </a:lnTo>
                <a:cubicBezTo>
                  <a:pt x="5183379" y="0"/>
                  <a:pt x="5216017" y="32638"/>
                  <a:pt x="5216017" y="72898"/>
                </a:cubicBezTo>
                <a:lnTo>
                  <a:pt x="5216017" y="620141"/>
                </a:lnTo>
                <a:cubicBezTo>
                  <a:pt x="5216017" y="660401"/>
                  <a:pt x="5183379" y="693039"/>
                  <a:pt x="5143119" y="693039"/>
                </a:cubicBezTo>
                <a:lnTo>
                  <a:pt x="36449" y="693039"/>
                </a:lnTo>
                <a:cubicBezTo>
                  <a:pt x="16319" y="693039"/>
                  <a:pt x="0" y="676720"/>
                  <a:pt x="0" y="656590"/>
                </a:cubicBezTo>
                <a:lnTo>
                  <a:pt x="0" y="36449"/>
                </a:lnTo>
                <a:cubicBezTo>
                  <a:pt x="0" y="16319"/>
                  <a:pt x="16319" y="0"/>
                  <a:pt x="36449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14" name="Shape 12"/>
          <p:cNvSpPr/>
          <p:nvPr/>
        </p:nvSpPr>
        <p:spPr>
          <a:xfrm>
            <a:off x="574492" y="2781272"/>
            <a:ext cx="36476" cy="693038"/>
          </a:xfrm>
          <a:custGeom>
            <a:avLst/>
            <a:gdLst/>
            <a:ahLst/>
            <a:cxnLst/>
            <a:rect l="l" t="t" r="r" b="b"/>
            <a:pathLst>
              <a:path w="36476" h="693038">
                <a:moveTo>
                  <a:pt x="36449" y="0"/>
                </a:moveTo>
                <a:lnTo>
                  <a:pt x="36449" y="0"/>
                </a:lnTo>
                <a:lnTo>
                  <a:pt x="36449" y="693039"/>
                </a:lnTo>
                <a:lnTo>
                  <a:pt x="36449" y="693039"/>
                </a:lnTo>
                <a:cubicBezTo>
                  <a:pt x="16319" y="693039"/>
                  <a:pt x="0" y="676720"/>
                  <a:pt x="0" y="656590"/>
                </a:cubicBezTo>
                <a:lnTo>
                  <a:pt x="0" y="36449"/>
                </a:lnTo>
                <a:cubicBezTo>
                  <a:pt x="0" y="16319"/>
                  <a:pt x="16319" y="0"/>
                  <a:pt x="36449" y="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15" name="Shape 13"/>
          <p:cNvSpPr/>
          <p:nvPr/>
        </p:nvSpPr>
        <p:spPr>
          <a:xfrm>
            <a:off x="720395" y="2945412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9119" y="9119"/>
                </a:moveTo>
                <a:cubicBezTo>
                  <a:pt x="14163" y="9119"/>
                  <a:pt x="18238" y="13194"/>
                  <a:pt x="18238" y="18238"/>
                </a:cubicBezTo>
                <a:lnTo>
                  <a:pt x="18238" y="113987"/>
                </a:lnTo>
                <a:cubicBezTo>
                  <a:pt x="18238" y="116494"/>
                  <a:pt x="20290" y="118546"/>
                  <a:pt x="22797" y="118546"/>
                </a:cubicBezTo>
                <a:lnTo>
                  <a:pt x="136784" y="118546"/>
                </a:lnTo>
                <a:cubicBezTo>
                  <a:pt x="141828" y="118546"/>
                  <a:pt x="145903" y="122621"/>
                  <a:pt x="145903" y="127665"/>
                </a:cubicBezTo>
                <a:cubicBezTo>
                  <a:pt x="145903" y="132709"/>
                  <a:pt x="141828" y="136784"/>
                  <a:pt x="136784" y="136784"/>
                </a:cubicBezTo>
                <a:lnTo>
                  <a:pt x="22797" y="136784"/>
                </a:lnTo>
                <a:cubicBezTo>
                  <a:pt x="10202" y="136784"/>
                  <a:pt x="0" y="126582"/>
                  <a:pt x="0" y="113987"/>
                </a:cubicBezTo>
                <a:lnTo>
                  <a:pt x="0" y="18238"/>
                </a:lnTo>
                <a:cubicBezTo>
                  <a:pt x="0" y="13194"/>
                  <a:pt x="4075" y="9119"/>
                  <a:pt x="9119" y="9119"/>
                </a:cubicBezTo>
                <a:close/>
                <a:moveTo>
                  <a:pt x="36476" y="27357"/>
                </a:moveTo>
                <a:cubicBezTo>
                  <a:pt x="36476" y="22313"/>
                  <a:pt x="40551" y="18238"/>
                  <a:pt x="45595" y="18238"/>
                </a:cubicBezTo>
                <a:lnTo>
                  <a:pt x="100308" y="18238"/>
                </a:lnTo>
                <a:cubicBezTo>
                  <a:pt x="105352" y="18238"/>
                  <a:pt x="109427" y="22313"/>
                  <a:pt x="109427" y="27357"/>
                </a:cubicBezTo>
                <a:cubicBezTo>
                  <a:pt x="109427" y="32401"/>
                  <a:pt x="105352" y="36476"/>
                  <a:pt x="100308" y="36476"/>
                </a:cubicBezTo>
                <a:lnTo>
                  <a:pt x="45595" y="36476"/>
                </a:lnTo>
                <a:cubicBezTo>
                  <a:pt x="40551" y="36476"/>
                  <a:pt x="36476" y="32401"/>
                  <a:pt x="36476" y="27357"/>
                </a:cubicBezTo>
                <a:close/>
                <a:moveTo>
                  <a:pt x="45595" y="50154"/>
                </a:moveTo>
                <a:lnTo>
                  <a:pt x="82070" y="50154"/>
                </a:lnTo>
                <a:cubicBezTo>
                  <a:pt x="87114" y="50154"/>
                  <a:pt x="91189" y="54229"/>
                  <a:pt x="91189" y="59273"/>
                </a:cubicBezTo>
                <a:cubicBezTo>
                  <a:pt x="91189" y="64317"/>
                  <a:pt x="87114" y="68392"/>
                  <a:pt x="82070" y="68392"/>
                </a:cubicBezTo>
                <a:lnTo>
                  <a:pt x="45595" y="68392"/>
                </a:lnTo>
                <a:cubicBezTo>
                  <a:pt x="40551" y="68392"/>
                  <a:pt x="36476" y="64317"/>
                  <a:pt x="36476" y="59273"/>
                </a:cubicBezTo>
                <a:cubicBezTo>
                  <a:pt x="36476" y="54229"/>
                  <a:pt x="40551" y="50154"/>
                  <a:pt x="45595" y="50154"/>
                </a:cubicBezTo>
                <a:close/>
                <a:moveTo>
                  <a:pt x="45595" y="82070"/>
                </a:moveTo>
                <a:lnTo>
                  <a:pt x="118546" y="82070"/>
                </a:lnTo>
                <a:cubicBezTo>
                  <a:pt x="123590" y="82070"/>
                  <a:pt x="127665" y="86145"/>
                  <a:pt x="127665" y="91189"/>
                </a:cubicBezTo>
                <a:cubicBezTo>
                  <a:pt x="127665" y="96233"/>
                  <a:pt x="123590" y="100308"/>
                  <a:pt x="118546" y="100308"/>
                </a:cubicBezTo>
                <a:lnTo>
                  <a:pt x="45595" y="100308"/>
                </a:lnTo>
                <a:cubicBezTo>
                  <a:pt x="40551" y="100308"/>
                  <a:pt x="36476" y="96233"/>
                  <a:pt x="36476" y="91189"/>
                </a:cubicBezTo>
                <a:cubicBezTo>
                  <a:pt x="36476" y="86145"/>
                  <a:pt x="40551" y="82070"/>
                  <a:pt x="45595" y="82070"/>
                </a:cubicBez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16" name="Text 14"/>
          <p:cNvSpPr/>
          <p:nvPr/>
        </p:nvSpPr>
        <p:spPr>
          <a:xfrm>
            <a:off x="957487" y="2890699"/>
            <a:ext cx="1048676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指标 Metrics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2157" y="3182504"/>
            <a:ext cx="504276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业务指标 + 系统指标（QPS、延迟、错误率）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4492" y="3583737"/>
            <a:ext cx="5216024" cy="693038"/>
          </a:xfrm>
          <a:custGeom>
            <a:avLst/>
            <a:gdLst/>
            <a:ahLst/>
            <a:cxnLst/>
            <a:rect l="l" t="t" r="r" b="b"/>
            <a:pathLst>
              <a:path w="5216024" h="693038">
                <a:moveTo>
                  <a:pt x="36449" y="0"/>
                </a:moveTo>
                <a:lnTo>
                  <a:pt x="5143119" y="0"/>
                </a:lnTo>
                <a:cubicBezTo>
                  <a:pt x="5183379" y="0"/>
                  <a:pt x="5216017" y="32638"/>
                  <a:pt x="5216017" y="72898"/>
                </a:cubicBezTo>
                <a:lnTo>
                  <a:pt x="5216017" y="620141"/>
                </a:lnTo>
                <a:cubicBezTo>
                  <a:pt x="5216017" y="660401"/>
                  <a:pt x="5183379" y="693039"/>
                  <a:pt x="5143119" y="693039"/>
                </a:cubicBezTo>
                <a:lnTo>
                  <a:pt x="36449" y="693039"/>
                </a:lnTo>
                <a:cubicBezTo>
                  <a:pt x="16319" y="693039"/>
                  <a:pt x="0" y="676720"/>
                  <a:pt x="0" y="656590"/>
                </a:cubicBezTo>
                <a:lnTo>
                  <a:pt x="0" y="36449"/>
                </a:lnTo>
                <a:cubicBezTo>
                  <a:pt x="0" y="16319"/>
                  <a:pt x="16319" y="0"/>
                  <a:pt x="36449" y="0"/>
                </a:cubicBezTo>
                <a:close/>
              </a:path>
            </a:pathLst>
          </a:custGeom>
          <a:solidFill>
            <a:srgbClr val="0F1115"/>
          </a:solidFill>
          <a:ln/>
        </p:spPr>
      </p:sp>
      <p:sp>
        <p:nvSpPr>
          <p:cNvPr id="19" name="Shape 17"/>
          <p:cNvSpPr/>
          <p:nvPr/>
        </p:nvSpPr>
        <p:spPr>
          <a:xfrm>
            <a:off x="574492" y="3583737"/>
            <a:ext cx="36476" cy="693038"/>
          </a:xfrm>
          <a:custGeom>
            <a:avLst/>
            <a:gdLst/>
            <a:ahLst/>
            <a:cxnLst/>
            <a:rect l="l" t="t" r="r" b="b"/>
            <a:pathLst>
              <a:path w="36476" h="693038">
                <a:moveTo>
                  <a:pt x="36449" y="0"/>
                </a:moveTo>
                <a:lnTo>
                  <a:pt x="36449" y="0"/>
                </a:lnTo>
                <a:lnTo>
                  <a:pt x="36449" y="693039"/>
                </a:lnTo>
                <a:lnTo>
                  <a:pt x="36449" y="693039"/>
                </a:lnTo>
                <a:cubicBezTo>
                  <a:pt x="16319" y="693039"/>
                  <a:pt x="0" y="676720"/>
                  <a:pt x="0" y="656590"/>
                </a:cubicBezTo>
                <a:lnTo>
                  <a:pt x="0" y="36449"/>
                </a:lnTo>
                <a:cubicBezTo>
                  <a:pt x="0" y="16319"/>
                  <a:pt x="16319" y="0"/>
                  <a:pt x="36449" y="0"/>
                </a:cubicBezTo>
                <a:close/>
              </a:path>
            </a:pathLst>
          </a:custGeom>
          <a:solidFill>
            <a:srgbClr val="22577A"/>
          </a:solidFill>
          <a:ln/>
        </p:spPr>
      </p:sp>
      <p:sp>
        <p:nvSpPr>
          <p:cNvPr id="20" name="Shape 18"/>
          <p:cNvSpPr/>
          <p:nvPr/>
        </p:nvSpPr>
        <p:spPr>
          <a:xfrm>
            <a:off x="720395" y="3747877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0" y="22797"/>
                </a:moveTo>
                <a:cubicBezTo>
                  <a:pt x="0" y="15246"/>
                  <a:pt x="6127" y="9119"/>
                  <a:pt x="13678" y="9119"/>
                </a:cubicBezTo>
                <a:lnTo>
                  <a:pt x="41035" y="9119"/>
                </a:lnTo>
                <a:cubicBezTo>
                  <a:pt x="48587" y="9119"/>
                  <a:pt x="54714" y="15246"/>
                  <a:pt x="54714" y="22797"/>
                </a:cubicBezTo>
                <a:lnTo>
                  <a:pt x="54714" y="27357"/>
                </a:lnTo>
                <a:lnTo>
                  <a:pt x="91189" y="27357"/>
                </a:lnTo>
                <a:lnTo>
                  <a:pt x="91189" y="22797"/>
                </a:lnTo>
                <a:cubicBezTo>
                  <a:pt x="91189" y="15246"/>
                  <a:pt x="97316" y="9119"/>
                  <a:pt x="104868" y="9119"/>
                </a:cubicBezTo>
                <a:lnTo>
                  <a:pt x="132224" y="9119"/>
                </a:lnTo>
                <a:cubicBezTo>
                  <a:pt x="139776" y="9119"/>
                  <a:pt x="145903" y="15246"/>
                  <a:pt x="145903" y="22797"/>
                </a:cubicBezTo>
                <a:lnTo>
                  <a:pt x="145903" y="50154"/>
                </a:lnTo>
                <a:cubicBezTo>
                  <a:pt x="145903" y="57706"/>
                  <a:pt x="139776" y="63832"/>
                  <a:pt x="132224" y="63832"/>
                </a:cubicBezTo>
                <a:lnTo>
                  <a:pt x="104868" y="63832"/>
                </a:lnTo>
                <a:cubicBezTo>
                  <a:pt x="97316" y="63832"/>
                  <a:pt x="91189" y="57706"/>
                  <a:pt x="91189" y="50154"/>
                </a:cubicBezTo>
                <a:lnTo>
                  <a:pt x="91189" y="45595"/>
                </a:lnTo>
                <a:lnTo>
                  <a:pt x="54714" y="45595"/>
                </a:lnTo>
                <a:lnTo>
                  <a:pt x="54714" y="50154"/>
                </a:lnTo>
                <a:cubicBezTo>
                  <a:pt x="54714" y="52234"/>
                  <a:pt x="54229" y="54229"/>
                  <a:pt x="53403" y="55996"/>
                </a:cubicBezTo>
                <a:lnTo>
                  <a:pt x="72951" y="82070"/>
                </a:lnTo>
                <a:lnTo>
                  <a:pt x="95749" y="82070"/>
                </a:lnTo>
                <a:cubicBezTo>
                  <a:pt x="103300" y="82070"/>
                  <a:pt x="109427" y="88197"/>
                  <a:pt x="109427" y="95749"/>
                </a:cubicBezTo>
                <a:lnTo>
                  <a:pt x="109427" y="123105"/>
                </a:lnTo>
                <a:cubicBezTo>
                  <a:pt x="109427" y="130657"/>
                  <a:pt x="103300" y="136784"/>
                  <a:pt x="95749" y="136784"/>
                </a:cubicBezTo>
                <a:lnTo>
                  <a:pt x="68392" y="136784"/>
                </a:lnTo>
                <a:cubicBezTo>
                  <a:pt x="60840" y="136784"/>
                  <a:pt x="54714" y="130657"/>
                  <a:pt x="54714" y="123105"/>
                </a:cubicBezTo>
                <a:lnTo>
                  <a:pt x="54714" y="95749"/>
                </a:lnTo>
                <a:cubicBezTo>
                  <a:pt x="54714" y="93668"/>
                  <a:pt x="55198" y="91674"/>
                  <a:pt x="56024" y="89907"/>
                </a:cubicBezTo>
                <a:lnTo>
                  <a:pt x="36476" y="63832"/>
                </a:lnTo>
                <a:lnTo>
                  <a:pt x="13678" y="63832"/>
                </a:lnTo>
                <a:cubicBezTo>
                  <a:pt x="6127" y="63832"/>
                  <a:pt x="0" y="57706"/>
                  <a:pt x="0" y="50154"/>
                </a:cubicBezTo>
                <a:lnTo>
                  <a:pt x="0" y="22797"/>
                </a:lnTo>
                <a:close/>
              </a:path>
            </a:pathLst>
          </a:custGeom>
          <a:solidFill>
            <a:srgbClr val="22577A"/>
          </a:solidFill>
          <a:ln/>
        </p:spPr>
      </p:sp>
      <p:sp>
        <p:nvSpPr>
          <p:cNvPr id="21" name="Text 19"/>
          <p:cNvSpPr/>
          <p:nvPr/>
        </p:nvSpPr>
        <p:spPr>
          <a:xfrm>
            <a:off x="957487" y="3693164"/>
            <a:ext cx="993963" cy="2553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2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追踪 Traces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2157" y="3984969"/>
            <a:ext cx="5042764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分布式追踪，定位性能瓶颈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369316" y="4618734"/>
            <a:ext cx="5608138" cy="2234136"/>
          </a:xfrm>
          <a:prstGeom prst="roundRect">
            <a:avLst>
              <a:gd name="adj" fmla="val 3265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83611" y="4842148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0" y="109427"/>
                </a:moveTo>
                <a:cubicBezTo>
                  <a:pt x="0" y="49033"/>
                  <a:pt x="49033" y="0"/>
                  <a:pt x="109427" y="0"/>
                </a:cubicBezTo>
                <a:cubicBezTo>
                  <a:pt x="169822" y="0"/>
                  <a:pt x="218854" y="49033"/>
                  <a:pt x="218854" y="109427"/>
                </a:cubicBezTo>
                <a:cubicBezTo>
                  <a:pt x="218854" y="169822"/>
                  <a:pt x="169822" y="218854"/>
                  <a:pt x="109427" y="218854"/>
                </a:cubicBezTo>
                <a:cubicBezTo>
                  <a:pt x="49033" y="218854"/>
                  <a:pt x="0" y="169822"/>
                  <a:pt x="0" y="109427"/>
                </a:cubicBezTo>
                <a:close/>
                <a:moveTo>
                  <a:pt x="123105" y="41035"/>
                </a:moveTo>
                <a:cubicBezTo>
                  <a:pt x="123105" y="33486"/>
                  <a:pt x="116976" y="27357"/>
                  <a:pt x="109427" y="27357"/>
                </a:cubicBezTo>
                <a:cubicBezTo>
                  <a:pt x="101878" y="27357"/>
                  <a:pt x="95749" y="33486"/>
                  <a:pt x="95749" y="41035"/>
                </a:cubicBezTo>
                <a:cubicBezTo>
                  <a:pt x="95749" y="48584"/>
                  <a:pt x="101878" y="54714"/>
                  <a:pt x="109427" y="54714"/>
                </a:cubicBezTo>
                <a:cubicBezTo>
                  <a:pt x="116976" y="54714"/>
                  <a:pt x="123105" y="48584"/>
                  <a:pt x="123105" y="41035"/>
                </a:cubicBezTo>
                <a:close/>
                <a:moveTo>
                  <a:pt x="109427" y="177819"/>
                </a:moveTo>
                <a:cubicBezTo>
                  <a:pt x="124516" y="177819"/>
                  <a:pt x="136784" y="165551"/>
                  <a:pt x="136784" y="150462"/>
                </a:cubicBezTo>
                <a:cubicBezTo>
                  <a:pt x="136784" y="143538"/>
                  <a:pt x="134219" y="137169"/>
                  <a:pt x="129945" y="132381"/>
                </a:cubicBezTo>
                <a:lnTo>
                  <a:pt x="159652" y="73008"/>
                </a:lnTo>
                <a:cubicBezTo>
                  <a:pt x="162174" y="67922"/>
                  <a:pt x="160123" y="61766"/>
                  <a:pt x="155079" y="59245"/>
                </a:cubicBezTo>
                <a:cubicBezTo>
                  <a:pt x="150035" y="56723"/>
                  <a:pt x="143837" y="58774"/>
                  <a:pt x="141315" y="63818"/>
                </a:cubicBezTo>
                <a:lnTo>
                  <a:pt x="111607" y="123191"/>
                </a:lnTo>
                <a:cubicBezTo>
                  <a:pt x="110880" y="123148"/>
                  <a:pt x="110154" y="123105"/>
                  <a:pt x="109427" y="123105"/>
                </a:cubicBezTo>
                <a:cubicBezTo>
                  <a:pt x="94338" y="123105"/>
                  <a:pt x="82070" y="135373"/>
                  <a:pt x="82070" y="150462"/>
                </a:cubicBezTo>
                <a:cubicBezTo>
                  <a:pt x="82070" y="165551"/>
                  <a:pt x="94338" y="177819"/>
                  <a:pt x="109427" y="177819"/>
                </a:cubicBezTo>
                <a:close/>
                <a:moveTo>
                  <a:pt x="75231" y="61553"/>
                </a:moveTo>
                <a:cubicBezTo>
                  <a:pt x="75231" y="54003"/>
                  <a:pt x="69102" y="47874"/>
                  <a:pt x="61553" y="47874"/>
                </a:cubicBezTo>
                <a:cubicBezTo>
                  <a:pt x="54003" y="47874"/>
                  <a:pt x="47874" y="54003"/>
                  <a:pt x="47874" y="61553"/>
                </a:cubicBezTo>
                <a:cubicBezTo>
                  <a:pt x="47874" y="69102"/>
                  <a:pt x="54003" y="75231"/>
                  <a:pt x="61553" y="75231"/>
                </a:cubicBezTo>
                <a:cubicBezTo>
                  <a:pt x="69102" y="75231"/>
                  <a:pt x="75231" y="69102"/>
                  <a:pt x="75231" y="61553"/>
                </a:cubicBezTo>
                <a:close/>
                <a:moveTo>
                  <a:pt x="41035" y="123105"/>
                </a:moveTo>
                <a:cubicBezTo>
                  <a:pt x="48584" y="123105"/>
                  <a:pt x="54714" y="116976"/>
                  <a:pt x="54714" y="109427"/>
                </a:cubicBezTo>
                <a:cubicBezTo>
                  <a:pt x="54714" y="101878"/>
                  <a:pt x="48584" y="95749"/>
                  <a:pt x="41035" y="95749"/>
                </a:cubicBezTo>
                <a:cubicBezTo>
                  <a:pt x="33486" y="95749"/>
                  <a:pt x="27357" y="101878"/>
                  <a:pt x="27357" y="109427"/>
                </a:cubicBezTo>
                <a:cubicBezTo>
                  <a:pt x="27357" y="116976"/>
                  <a:pt x="33486" y="123105"/>
                  <a:pt x="41035" y="123105"/>
                </a:cubicBezTo>
                <a:close/>
                <a:moveTo>
                  <a:pt x="191497" y="109427"/>
                </a:moveTo>
                <a:cubicBezTo>
                  <a:pt x="191497" y="101878"/>
                  <a:pt x="185368" y="95749"/>
                  <a:pt x="177819" y="95749"/>
                </a:cubicBezTo>
                <a:cubicBezTo>
                  <a:pt x="170270" y="95749"/>
                  <a:pt x="164141" y="101878"/>
                  <a:pt x="164141" y="109427"/>
                </a:cubicBezTo>
                <a:cubicBezTo>
                  <a:pt x="164141" y="116976"/>
                  <a:pt x="170270" y="123105"/>
                  <a:pt x="177819" y="123105"/>
                </a:cubicBezTo>
                <a:cubicBezTo>
                  <a:pt x="185368" y="123105"/>
                  <a:pt x="191497" y="116976"/>
                  <a:pt x="191497" y="109427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25" name="Text 23"/>
          <p:cNvSpPr/>
          <p:nvPr/>
        </p:nvSpPr>
        <p:spPr>
          <a:xfrm>
            <a:off x="939249" y="4805672"/>
            <a:ext cx="142255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工程效能度量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56254" y="5243381"/>
            <a:ext cx="2562417" cy="656562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27" name="Text 25"/>
          <p:cNvSpPr/>
          <p:nvPr/>
        </p:nvSpPr>
        <p:spPr>
          <a:xfrm>
            <a:off x="665681" y="5352808"/>
            <a:ext cx="241651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交付速度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65681" y="5608138"/>
            <a:ext cx="24073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部署频率、变更前置时间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30227" y="5243381"/>
            <a:ext cx="2562417" cy="656562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0" name="Text 28"/>
          <p:cNvSpPr/>
          <p:nvPr/>
        </p:nvSpPr>
        <p:spPr>
          <a:xfrm>
            <a:off x="3339654" y="5352808"/>
            <a:ext cx="241651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质量指标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339654" y="5608138"/>
            <a:ext cx="24073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变更失败率、恢复时间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56254" y="6009370"/>
            <a:ext cx="2562417" cy="656562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3" name="Text 31"/>
          <p:cNvSpPr/>
          <p:nvPr/>
        </p:nvSpPr>
        <p:spPr>
          <a:xfrm>
            <a:off x="665681" y="6118797"/>
            <a:ext cx="241651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测试指标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65681" y="6374127"/>
            <a:ext cx="24073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测试覆盖率、执行时间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230227" y="6009370"/>
            <a:ext cx="2562417" cy="656562"/>
          </a:xfrm>
          <a:prstGeom prst="roundRect">
            <a:avLst>
              <a:gd name="adj" fmla="val 5556"/>
            </a:avLst>
          </a:prstGeom>
          <a:solidFill>
            <a:srgbClr val="0F1115"/>
          </a:solidFill>
          <a:ln/>
        </p:spPr>
      </p:sp>
      <p:sp>
        <p:nvSpPr>
          <p:cNvPr id="36" name="Text 34"/>
          <p:cNvSpPr/>
          <p:nvPr/>
        </p:nvSpPr>
        <p:spPr>
          <a:xfrm>
            <a:off x="3339654" y="6118797"/>
            <a:ext cx="241651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资源效率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3339654" y="6374127"/>
            <a:ext cx="240739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CI执行时间、资源利用率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209531" y="1354160"/>
            <a:ext cx="5608138" cy="2744796"/>
          </a:xfrm>
          <a:prstGeom prst="roundRect">
            <a:avLst>
              <a:gd name="adj" fmla="val 2658"/>
            </a:avLst>
          </a:prstGeom>
          <a:solidFill>
            <a:srgbClr val="22577A">
              <a:alpha val="20000"/>
            </a:srgbClr>
          </a:solidFill>
          <a:ln w="12700">
            <a:solidFill>
              <a:srgbClr val="38A3A5">
                <a:alpha val="30196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23825" y="1577574"/>
            <a:ext cx="218854" cy="218854"/>
          </a:xfrm>
          <a:custGeom>
            <a:avLst/>
            <a:gdLst/>
            <a:ahLst/>
            <a:cxnLst/>
            <a:rect l="l" t="t" r="r" b="b"/>
            <a:pathLst>
              <a:path w="218854" h="218854">
                <a:moveTo>
                  <a:pt x="205219" y="82070"/>
                </a:moveTo>
                <a:lnTo>
                  <a:pt x="208595" y="82070"/>
                </a:lnTo>
                <a:cubicBezTo>
                  <a:pt x="214280" y="82070"/>
                  <a:pt x="218854" y="77497"/>
                  <a:pt x="218854" y="71812"/>
                </a:cubicBezTo>
                <a:lnTo>
                  <a:pt x="218854" y="10259"/>
                </a:lnTo>
                <a:cubicBezTo>
                  <a:pt x="218854" y="6113"/>
                  <a:pt x="216375" y="2351"/>
                  <a:pt x="212528" y="769"/>
                </a:cubicBezTo>
                <a:cubicBezTo>
                  <a:pt x="208681" y="-812"/>
                  <a:pt x="204278" y="85"/>
                  <a:pt x="201329" y="2992"/>
                </a:cubicBezTo>
                <a:lnTo>
                  <a:pt x="179230" y="25134"/>
                </a:lnTo>
                <a:cubicBezTo>
                  <a:pt x="160294" y="9447"/>
                  <a:pt x="135929" y="0"/>
                  <a:pt x="109427" y="0"/>
                </a:cubicBezTo>
                <a:cubicBezTo>
                  <a:pt x="54286" y="0"/>
                  <a:pt x="8677" y="40779"/>
                  <a:pt x="1111" y="93825"/>
                </a:cubicBezTo>
                <a:cubicBezTo>
                  <a:pt x="43" y="101306"/>
                  <a:pt x="5215" y="108230"/>
                  <a:pt x="12695" y="109299"/>
                </a:cubicBezTo>
                <a:cubicBezTo>
                  <a:pt x="20176" y="110367"/>
                  <a:pt x="27100" y="105153"/>
                  <a:pt x="28169" y="97715"/>
                </a:cubicBezTo>
                <a:cubicBezTo>
                  <a:pt x="33854" y="57919"/>
                  <a:pt x="68093" y="27357"/>
                  <a:pt x="109427" y="27357"/>
                </a:cubicBezTo>
                <a:cubicBezTo>
                  <a:pt x="128406" y="27357"/>
                  <a:pt x="145846" y="33769"/>
                  <a:pt x="159738" y="44583"/>
                </a:cubicBezTo>
                <a:lnTo>
                  <a:pt x="139776" y="64545"/>
                </a:lnTo>
                <a:cubicBezTo>
                  <a:pt x="136827" y="67494"/>
                  <a:pt x="135972" y="71897"/>
                  <a:pt x="137553" y="75744"/>
                </a:cubicBezTo>
                <a:cubicBezTo>
                  <a:pt x="139135" y="79591"/>
                  <a:pt x="142896" y="82070"/>
                  <a:pt x="147043" y="82070"/>
                </a:cubicBezTo>
                <a:lnTo>
                  <a:pt x="205219" y="82070"/>
                </a:lnTo>
                <a:close/>
                <a:moveTo>
                  <a:pt x="217786" y="125029"/>
                </a:moveTo>
                <a:cubicBezTo>
                  <a:pt x="218854" y="117549"/>
                  <a:pt x="213639" y="110624"/>
                  <a:pt x="206202" y="109555"/>
                </a:cubicBezTo>
                <a:cubicBezTo>
                  <a:pt x="198764" y="108487"/>
                  <a:pt x="191797" y="113702"/>
                  <a:pt x="190728" y="121139"/>
                </a:cubicBezTo>
                <a:cubicBezTo>
                  <a:pt x="185043" y="160892"/>
                  <a:pt x="150804" y="191455"/>
                  <a:pt x="109470" y="191455"/>
                </a:cubicBezTo>
                <a:cubicBezTo>
                  <a:pt x="90491" y="191455"/>
                  <a:pt x="73051" y="185043"/>
                  <a:pt x="59159" y="174228"/>
                </a:cubicBezTo>
                <a:lnTo>
                  <a:pt x="79078" y="154309"/>
                </a:lnTo>
                <a:cubicBezTo>
                  <a:pt x="82028" y="151360"/>
                  <a:pt x="82882" y="146957"/>
                  <a:pt x="81301" y="143110"/>
                </a:cubicBezTo>
                <a:cubicBezTo>
                  <a:pt x="79719" y="139263"/>
                  <a:pt x="75958" y="136784"/>
                  <a:pt x="71812" y="136784"/>
                </a:cubicBezTo>
                <a:lnTo>
                  <a:pt x="10259" y="136784"/>
                </a:lnTo>
                <a:cubicBezTo>
                  <a:pt x="4574" y="136784"/>
                  <a:pt x="0" y="141358"/>
                  <a:pt x="0" y="147043"/>
                </a:cubicBezTo>
                <a:lnTo>
                  <a:pt x="0" y="208595"/>
                </a:lnTo>
                <a:cubicBezTo>
                  <a:pt x="0" y="212742"/>
                  <a:pt x="2479" y="216503"/>
                  <a:pt x="6326" y="218085"/>
                </a:cubicBezTo>
                <a:cubicBezTo>
                  <a:pt x="10173" y="219666"/>
                  <a:pt x="14576" y="218769"/>
                  <a:pt x="17525" y="215862"/>
                </a:cubicBezTo>
                <a:lnTo>
                  <a:pt x="39667" y="193720"/>
                </a:lnTo>
                <a:cubicBezTo>
                  <a:pt x="58561" y="209408"/>
                  <a:pt x="82925" y="218854"/>
                  <a:pt x="109427" y="218854"/>
                </a:cubicBezTo>
                <a:cubicBezTo>
                  <a:pt x="164568" y="218854"/>
                  <a:pt x="210177" y="178075"/>
                  <a:pt x="217743" y="125029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40" name="Text 38"/>
          <p:cNvSpPr/>
          <p:nvPr/>
        </p:nvSpPr>
        <p:spPr>
          <a:xfrm>
            <a:off x="6779463" y="1541098"/>
            <a:ext cx="1422552" cy="2918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23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飞轮验证框架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396469" y="1978806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42" name="Text 40"/>
          <p:cNvSpPr/>
          <p:nvPr/>
        </p:nvSpPr>
        <p:spPr>
          <a:xfrm>
            <a:off x="6359993" y="1978806"/>
            <a:ext cx="43770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870653" y="1978806"/>
            <a:ext cx="198792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基线建立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870653" y="2197660"/>
            <a:ext cx="197880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收集当前状态数据，建立度量基线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6396469" y="2489466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46" name="Text 44"/>
          <p:cNvSpPr/>
          <p:nvPr/>
        </p:nvSpPr>
        <p:spPr>
          <a:xfrm>
            <a:off x="6359993" y="2489466"/>
            <a:ext cx="43770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870653" y="2489466"/>
            <a:ext cx="173259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改进实验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870653" y="2708320"/>
            <a:ext cx="172347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单一变量优化，控制其他因素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396469" y="3000126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38A3A5"/>
          </a:solidFill>
          <a:ln/>
        </p:spPr>
      </p:sp>
      <p:sp>
        <p:nvSpPr>
          <p:cNvPr id="50" name="Text 48"/>
          <p:cNvSpPr/>
          <p:nvPr/>
        </p:nvSpPr>
        <p:spPr>
          <a:xfrm>
            <a:off x="6359993" y="3000126"/>
            <a:ext cx="43770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6870653" y="3000126"/>
            <a:ext cx="1477266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效果验证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870653" y="3218980"/>
            <a:ext cx="1468147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数据对比，确认改进有效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396469" y="3510785"/>
            <a:ext cx="364757" cy="364757"/>
          </a:xfrm>
          <a:prstGeom prst="roundRect">
            <a:avLst>
              <a:gd name="adj" fmla="val 50000"/>
            </a:avLst>
          </a:prstGeom>
          <a:solidFill>
            <a:srgbClr val="80ED99"/>
          </a:solidFill>
          <a:ln/>
        </p:spPr>
      </p:sp>
      <p:sp>
        <p:nvSpPr>
          <p:cNvPr id="54" name="Text 52"/>
          <p:cNvSpPr/>
          <p:nvPr/>
        </p:nvSpPr>
        <p:spPr>
          <a:xfrm>
            <a:off x="6359993" y="3510785"/>
            <a:ext cx="437708" cy="3647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9" b="1" dirty="0">
                <a:solidFill>
                  <a:srgbClr val="0F111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6870653" y="3510785"/>
            <a:ext cx="1732595" cy="21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E0E2E5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固化流程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6870653" y="3729639"/>
            <a:ext cx="1723476" cy="1823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5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将有效实践标准化，纳入规范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6209531" y="4253978"/>
            <a:ext cx="5608138" cy="1012200"/>
          </a:xfrm>
          <a:prstGeom prst="roundRect">
            <a:avLst>
              <a:gd name="adj" fmla="val 7207"/>
            </a:avLst>
          </a:prstGeom>
          <a:solidFill>
            <a:srgbClr val="38A3A5">
              <a:alpha val="10196"/>
            </a:srgbClr>
          </a:solidFill>
          <a:ln w="12700">
            <a:solidFill>
              <a:srgbClr val="38A3A5">
                <a:alpha val="50196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378231" y="4445475"/>
            <a:ext cx="145903" cy="145903"/>
          </a:xfrm>
          <a:custGeom>
            <a:avLst/>
            <a:gdLst/>
            <a:ahLst/>
            <a:cxnLst/>
            <a:rect l="l" t="t" r="r" b="b"/>
            <a:pathLst>
              <a:path w="145903" h="145903">
                <a:moveTo>
                  <a:pt x="18238" y="18238"/>
                </a:moveTo>
                <a:cubicBezTo>
                  <a:pt x="18238" y="13194"/>
                  <a:pt x="14163" y="9119"/>
                  <a:pt x="9119" y="9119"/>
                </a:cubicBezTo>
                <a:cubicBezTo>
                  <a:pt x="4075" y="9119"/>
                  <a:pt x="0" y="13194"/>
                  <a:pt x="0" y="18238"/>
                </a:cubicBezTo>
                <a:lnTo>
                  <a:pt x="0" y="113987"/>
                </a:lnTo>
                <a:cubicBezTo>
                  <a:pt x="0" y="126582"/>
                  <a:pt x="10202" y="136784"/>
                  <a:pt x="22797" y="136784"/>
                </a:cubicBezTo>
                <a:lnTo>
                  <a:pt x="136784" y="136784"/>
                </a:lnTo>
                <a:cubicBezTo>
                  <a:pt x="141828" y="136784"/>
                  <a:pt x="145903" y="132709"/>
                  <a:pt x="145903" y="127665"/>
                </a:cubicBezTo>
                <a:cubicBezTo>
                  <a:pt x="145903" y="122621"/>
                  <a:pt x="141828" y="118546"/>
                  <a:pt x="136784" y="118546"/>
                </a:cubicBezTo>
                <a:lnTo>
                  <a:pt x="22797" y="118546"/>
                </a:lnTo>
                <a:cubicBezTo>
                  <a:pt x="20290" y="118546"/>
                  <a:pt x="18238" y="116494"/>
                  <a:pt x="18238" y="113987"/>
                </a:cubicBezTo>
                <a:lnTo>
                  <a:pt x="18238" y="18238"/>
                </a:lnTo>
                <a:close/>
                <a:moveTo>
                  <a:pt x="134105" y="42916"/>
                </a:moveTo>
                <a:cubicBezTo>
                  <a:pt x="137667" y="39354"/>
                  <a:pt x="137667" y="33569"/>
                  <a:pt x="134105" y="30007"/>
                </a:cubicBezTo>
                <a:cubicBezTo>
                  <a:pt x="130543" y="26445"/>
                  <a:pt x="124758" y="26445"/>
                  <a:pt x="121196" y="30007"/>
                </a:cubicBezTo>
                <a:lnTo>
                  <a:pt x="91189" y="60042"/>
                </a:lnTo>
                <a:lnTo>
                  <a:pt x="74832" y="43714"/>
                </a:lnTo>
                <a:cubicBezTo>
                  <a:pt x="71270" y="40152"/>
                  <a:pt x="65485" y="40152"/>
                  <a:pt x="61923" y="43714"/>
                </a:cubicBezTo>
                <a:lnTo>
                  <a:pt x="34566" y="71071"/>
                </a:lnTo>
                <a:cubicBezTo>
                  <a:pt x="31004" y="74633"/>
                  <a:pt x="31004" y="80418"/>
                  <a:pt x="34566" y="83980"/>
                </a:cubicBezTo>
                <a:cubicBezTo>
                  <a:pt x="38128" y="87542"/>
                  <a:pt x="43913" y="87542"/>
                  <a:pt x="47475" y="83980"/>
                </a:cubicBezTo>
                <a:lnTo>
                  <a:pt x="68392" y="63063"/>
                </a:lnTo>
                <a:lnTo>
                  <a:pt x="84749" y="79420"/>
                </a:lnTo>
                <a:cubicBezTo>
                  <a:pt x="88311" y="82982"/>
                  <a:pt x="94096" y="82982"/>
                  <a:pt x="97658" y="79420"/>
                </a:cubicBezTo>
                <a:lnTo>
                  <a:pt x="134134" y="42944"/>
                </a:lnTo>
                <a:close/>
              </a:path>
            </a:pathLst>
          </a:custGeom>
          <a:solidFill>
            <a:srgbClr val="80ED99"/>
          </a:solidFill>
          <a:ln/>
        </p:spPr>
      </p:sp>
      <p:sp>
        <p:nvSpPr>
          <p:cNvPr id="59" name="Text 57"/>
          <p:cNvSpPr/>
          <p:nvPr/>
        </p:nvSpPr>
        <p:spPr>
          <a:xfrm>
            <a:off x="6657422" y="4413559"/>
            <a:ext cx="969342" cy="200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9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数据驱动文化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6359993" y="4696245"/>
            <a:ext cx="5371046" cy="419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05" dirty="0">
                <a:solidFill>
                  <a:srgbClr val="E0E2E5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用数据说话，而非主观感受。定期回顾指标，识别新的优化机会。可观测性不仅是技术实践，更是工程文化的体现。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statics.moonshot.cn/kimi-ppt/html-gen/static/image-error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115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443163" y="1121569"/>
            <a:ext cx="7305675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500" dirty="0">
                <a:solidFill>
                  <a:srgbClr val="E0E2E5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让飞轮持续转动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5486400" y="2140744"/>
            <a:ext cx="1219200" cy="57150"/>
          </a:xfrm>
          <a:prstGeom prst="roundRect">
            <a:avLst>
              <a:gd name="adj" fmla="val 0"/>
            </a:avLst>
          </a:prstGeom>
          <a:solidFill>
            <a:srgbClr val="38A3A5"/>
          </a:solidFill>
          <a:ln/>
        </p:spPr>
      </p:sp>
      <p:sp>
        <p:nvSpPr>
          <p:cNvPr id="6" name="Text 3"/>
          <p:cNvSpPr/>
          <p:nvPr/>
        </p:nvSpPr>
        <p:spPr>
          <a:xfrm>
            <a:off x="2528888" y="2502694"/>
            <a:ext cx="7134225" cy="11144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viding 飞轮不是一次性配置，而是</a:t>
            </a:r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80ED99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持续演进的工程文化</a:t>
            </a:r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。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从规范开始，用测试保障，以工程化落地，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800" dirty="0">
                <a:solidFill>
                  <a:srgbClr val="E0E2E5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靠记忆传承，用数据验证。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2590800" y="4079081"/>
            <a:ext cx="7010400" cy="933450"/>
          </a:xfrm>
          <a:prstGeom prst="roundRect">
            <a:avLst>
              <a:gd name="adj" fmla="val 8163"/>
            </a:avLst>
          </a:prstGeom>
          <a:solidFill>
            <a:srgbClr val="22577A">
              <a:alpha val="30196"/>
            </a:srgbClr>
          </a:solidFill>
          <a:ln w="12700">
            <a:solidFill>
              <a:srgbClr val="38A3A5">
                <a:alpha val="50196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52738" y="4388644"/>
            <a:ext cx="6486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rgbClr val="80ED99"/>
                </a:solidFill>
                <a:latin typeface="Alimama ShuHeiTi" pitchFamily="34" charset="0"/>
                <a:ea typeface="Alimama ShuHeiTi" pitchFamily="34" charset="-122"/>
                <a:cs typeface="Alimama ShuHeiTi" pitchFamily="34" charset="-120"/>
              </a:rPr>
              <a:t>当五个飞轮协同转动，团队效率将进入正向循环，持续加速。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633663" y="5507831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0" y="23812"/>
                </a:moveTo>
                <a:cubicBezTo>
                  <a:pt x="0" y="10678"/>
                  <a:pt x="10678" y="0"/>
                  <a:pt x="23812" y="0"/>
                </a:cubicBezTo>
                <a:lnTo>
                  <a:pt x="79437" y="0"/>
                </a:lnTo>
                <a:cubicBezTo>
                  <a:pt x="85762" y="0"/>
                  <a:pt x="91827" y="2493"/>
                  <a:pt x="96292" y="6958"/>
                </a:cubicBezTo>
                <a:lnTo>
                  <a:pt x="135917" y="46620"/>
                </a:lnTo>
                <a:cubicBezTo>
                  <a:pt x="140382" y="51085"/>
                  <a:pt x="142875" y="57150"/>
                  <a:pt x="142875" y="63475"/>
                </a:cubicBezTo>
                <a:lnTo>
                  <a:pt x="142875" y="166688"/>
                </a:lnTo>
                <a:cubicBezTo>
                  <a:pt x="142875" y="179822"/>
                  <a:pt x="132197" y="190500"/>
                  <a:pt x="119063" y="190500"/>
                </a:cubicBezTo>
                <a:lnTo>
                  <a:pt x="23812" y="190500"/>
                </a:lnTo>
                <a:cubicBezTo>
                  <a:pt x="10678" y="190500"/>
                  <a:pt x="0" y="179822"/>
                  <a:pt x="0" y="166688"/>
                </a:cubicBezTo>
                <a:lnTo>
                  <a:pt x="0" y="23812"/>
                </a:lnTo>
                <a:close/>
                <a:moveTo>
                  <a:pt x="77391" y="21766"/>
                </a:moveTo>
                <a:lnTo>
                  <a:pt x="77391" y="56555"/>
                </a:lnTo>
                <a:cubicBezTo>
                  <a:pt x="77391" y="61503"/>
                  <a:pt x="81372" y="65484"/>
                  <a:pt x="86320" y="65484"/>
                </a:cubicBezTo>
                <a:lnTo>
                  <a:pt x="121109" y="65484"/>
                </a:lnTo>
                <a:lnTo>
                  <a:pt x="77391" y="21766"/>
                </a:lnTo>
                <a:close/>
                <a:moveTo>
                  <a:pt x="57373" y="109984"/>
                </a:moveTo>
                <a:cubicBezTo>
                  <a:pt x="60573" y="106226"/>
                  <a:pt x="60164" y="100608"/>
                  <a:pt x="56406" y="97408"/>
                </a:cubicBezTo>
                <a:cubicBezTo>
                  <a:pt x="52648" y="94208"/>
                  <a:pt x="47030" y="94617"/>
                  <a:pt x="43830" y="98375"/>
                </a:cubicBezTo>
                <a:lnTo>
                  <a:pt x="25971" y="119211"/>
                </a:lnTo>
                <a:cubicBezTo>
                  <a:pt x="23106" y="122560"/>
                  <a:pt x="23106" y="127471"/>
                  <a:pt x="25971" y="130820"/>
                </a:cubicBezTo>
                <a:lnTo>
                  <a:pt x="43830" y="151656"/>
                </a:lnTo>
                <a:cubicBezTo>
                  <a:pt x="47030" y="155414"/>
                  <a:pt x="52685" y="155823"/>
                  <a:pt x="56406" y="152623"/>
                </a:cubicBezTo>
                <a:cubicBezTo>
                  <a:pt x="60127" y="149423"/>
                  <a:pt x="60573" y="143768"/>
                  <a:pt x="57373" y="140047"/>
                </a:cubicBezTo>
                <a:lnTo>
                  <a:pt x="44500" y="125016"/>
                </a:lnTo>
                <a:lnTo>
                  <a:pt x="57373" y="109984"/>
                </a:lnTo>
                <a:close/>
                <a:moveTo>
                  <a:pt x="99045" y="98375"/>
                </a:moveTo>
                <a:cubicBezTo>
                  <a:pt x="95845" y="94617"/>
                  <a:pt x="90190" y="94208"/>
                  <a:pt x="86469" y="97408"/>
                </a:cubicBezTo>
                <a:cubicBezTo>
                  <a:pt x="82748" y="100608"/>
                  <a:pt x="82302" y="106263"/>
                  <a:pt x="85502" y="109984"/>
                </a:cubicBezTo>
                <a:lnTo>
                  <a:pt x="98375" y="125016"/>
                </a:lnTo>
                <a:lnTo>
                  <a:pt x="85502" y="140047"/>
                </a:lnTo>
                <a:cubicBezTo>
                  <a:pt x="82302" y="143805"/>
                  <a:pt x="82711" y="149423"/>
                  <a:pt x="86469" y="152623"/>
                </a:cubicBezTo>
                <a:cubicBezTo>
                  <a:pt x="90227" y="155823"/>
                  <a:pt x="95845" y="155414"/>
                  <a:pt x="99045" y="151656"/>
                </a:cubicBezTo>
                <a:lnTo>
                  <a:pt x="116904" y="130820"/>
                </a:lnTo>
                <a:cubicBezTo>
                  <a:pt x="119769" y="127471"/>
                  <a:pt x="119769" y="122560"/>
                  <a:pt x="116904" y="119211"/>
                </a:cubicBezTo>
                <a:lnTo>
                  <a:pt x="99045" y="98375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0" name="Text 7"/>
          <p:cNvSpPr/>
          <p:nvPr/>
        </p:nvSpPr>
        <p:spPr>
          <a:xfrm>
            <a:off x="2895600" y="546973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规范驱动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105275" y="55078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2" name="Text 9"/>
          <p:cNvSpPr/>
          <p:nvPr/>
        </p:nvSpPr>
        <p:spPr>
          <a:xfrm>
            <a:off x="4391025" y="546973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测试保障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576888" y="5507831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54744" y="78321"/>
                </a:moveTo>
                <a:cubicBezTo>
                  <a:pt x="159283" y="77093"/>
                  <a:pt x="164046" y="79251"/>
                  <a:pt x="166092" y="83455"/>
                </a:cubicBezTo>
                <a:lnTo>
                  <a:pt x="173013" y="97445"/>
                </a:lnTo>
                <a:cubicBezTo>
                  <a:pt x="176845" y="97966"/>
                  <a:pt x="180603" y="99008"/>
                  <a:pt x="184138" y="100459"/>
                </a:cubicBezTo>
                <a:lnTo>
                  <a:pt x="197160" y="91790"/>
                </a:lnTo>
                <a:cubicBezTo>
                  <a:pt x="201067" y="89185"/>
                  <a:pt x="206239" y="89706"/>
                  <a:pt x="209550" y="93018"/>
                </a:cubicBezTo>
                <a:lnTo>
                  <a:pt x="216694" y="100161"/>
                </a:lnTo>
                <a:cubicBezTo>
                  <a:pt x="220005" y="103473"/>
                  <a:pt x="220526" y="108682"/>
                  <a:pt x="217922" y="112551"/>
                </a:cubicBezTo>
                <a:lnTo>
                  <a:pt x="209252" y="125537"/>
                </a:lnTo>
                <a:cubicBezTo>
                  <a:pt x="209959" y="127285"/>
                  <a:pt x="210592" y="129108"/>
                  <a:pt x="211113" y="131006"/>
                </a:cubicBezTo>
                <a:cubicBezTo>
                  <a:pt x="211634" y="132904"/>
                  <a:pt x="211968" y="134764"/>
                  <a:pt x="212229" y="136661"/>
                </a:cubicBezTo>
                <a:lnTo>
                  <a:pt x="226256" y="143582"/>
                </a:lnTo>
                <a:cubicBezTo>
                  <a:pt x="230460" y="145666"/>
                  <a:pt x="232618" y="150428"/>
                  <a:pt x="231391" y="154930"/>
                </a:cubicBezTo>
                <a:lnTo>
                  <a:pt x="228786" y="164678"/>
                </a:lnTo>
                <a:cubicBezTo>
                  <a:pt x="227558" y="169180"/>
                  <a:pt x="223354" y="172231"/>
                  <a:pt x="218666" y="171934"/>
                </a:cubicBezTo>
                <a:lnTo>
                  <a:pt x="203039" y="170929"/>
                </a:lnTo>
                <a:cubicBezTo>
                  <a:pt x="200695" y="173943"/>
                  <a:pt x="197979" y="176733"/>
                  <a:pt x="194890" y="179115"/>
                </a:cubicBezTo>
                <a:lnTo>
                  <a:pt x="195895" y="194704"/>
                </a:lnTo>
                <a:cubicBezTo>
                  <a:pt x="196193" y="199392"/>
                  <a:pt x="193142" y="203634"/>
                  <a:pt x="188640" y="204825"/>
                </a:cubicBezTo>
                <a:lnTo>
                  <a:pt x="178891" y="207429"/>
                </a:lnTo>
                <a:cubicBezTo>
                  <a:pt x="174352" y="208657"/>
                  <a:pt x="169627" y="206499"/>
                  <a:pt x="167543" y="202295"/>
                </a:cubicBezTo>
                <a:lnTo>
                  <a:pt x="160623" y="188305"/>
                </a:lnTo>
                <a:cubicBezTo>
                  <a:pt x="156790" y="187784"/>
                  <a:pt x="153033" y="186742"/>
                  <a:pt x="149498" y="185291"/>
                </a:cubicBezTo>
                <a:lnTo>
                  <a:pt x="136475" y="193960"/>
                </a:lnTo>
                <a:cubicBezTo>
                  <a:pt x="132569" y="196565"/>
                  <a:pt x="127397" y="196044"/>
                  <a:pt x="124085" y="192732"/>
                </a:cubicBezTo>
                <a:lnTo>
                  <a:pt x="116942" y="185589"/>
                </a:lnTo>
                <a:cubicBezTo>
                  <a:pt x="113630" y="182277"/>
                  <a:pt x="113109" y="177105"/>
                  <a:pt x="115714" y="173199"/>
                </a:cubicBezTo>
                <a:lnTo>
                  <a:pt x="124383" y="160176"/>
                </a:lnTo>
                <a:cubicBezTo>
                  <a:pt x="123676" y="158428"/>
                  <a:pt x="123044" y="156604"/>
                  <a:pt x="122523" y="154707"/>
                </a:cubicBezTo>
                <a:cubicBezTo>
                  <a:pt x="122002" y="152809"/>
                  <a:pt x="121667" y="150912"/>
                  <a:pt x="121407" y="149051"/>
                </a:cubicBezTo>
                <a:lnTo>
                  <a:pt x="107379" y="142131"/>
                </a:lnTo>
                <a:cubicBezTo>
                  <a:pt x="103175" y="140047"/>
                  <a:pt x="101054" y="135285"/>
                  <a:pt x="102245" y="130783"/>
                </a:cubicBezTo>
                <a:lnTo>
                  <a:pt x="104849" y="121034"/>
                </a:lnTo>
                <a:cubicBezTo>
                  <a:pt x="106077" y="116532"/>
                  <a:pt x="110282" y="113481"/>
                  <a:pt x="114970" y="113779"/>
                </a:cubicBezTo>
                <a:lnTo>
                  <a:pt x="130559" y="114784"/>
                </a:lnTo>
                <a:cubicBezTo>
                  <a:pt x="132904" y="111770"/>
                  <a:pt x="135620" y="108979"/>
                  <a:pt x="138708" y="106598"/>
                </a:cubicBezTo>
                <a:lnTo>
                  <a:pt x="137703" y="91046"/>
                </a:lnTo>
                <a:cubicBezTo>
                  <a:pt x="137406" y="86358"/>
                  <a:pt x="140457" y="82116"/>
                  <a:pt x="144959" y="80925"/>
                </a:cubicBezTo>
                <a:lnTo>
                  <a:pt x="154707" y="78321"/>
                </a:lnTo>
                <a:close/>
                <a:moveTo>
                  <a:pt x="166836" y="126504"/>
                </a:moveTo>
                <a:cubicBezTo>
                  <a:pt x="157801" y="126514"/>
                  <a:pt x="150474" y="133858"/>
                  <a:pt x="150484" y="142894"/>
                </a:cubicBezTo>
                <a:cubicBezTo>
                  <a:pt x="150494" y="151929"/>
                  <a:pt x="157838" y="159256"/>
                  <a:pt x="166874" y="159246"/>
                </a:cubicBezTo>
                <a:cubicBezTo>
                  <a:pt x="175909" y="159236"/>
                  <a:pt x="183236" y="151892"/>
                  <a:pt x="183226" y="142856"/>
                </a:cubicBezTo>
                <a:cubicBezTo>
                  <a:pt x="183216" y="133821"/>
                  <a:pt x="175872" y="126494"/>
                  <a:pt x="166836" y="126504"/>
                </a:cubicBezTo>
                <a:close/>
                <a:moveTo>
                  <a:pt x="83679" y="-16929"/>
                </a:moveTo>
                <a:lnTo>
                  <a:pt x="93427" y="-14325"/>
                </a:lnTo>
                <a:cubicBezTo>
                  <a:pt x="97929" y="-13097"/>
                  <a:pt x="100980" y="-8855"/>
                  <a:pt x="100682" y="-4204"/>
                </a:cubicBezTo>
                <a:lnTo>
                  <a:pt x="99678" y="11348"/>
                </a:lnTo>
                <a:cubicBezTo>
                  <a:pt x="102766" y="13729"/>
                  <a:pt x="105482" y="16483"/>
                  <a:pt x="107826" y="19534"/>
                </a:cubicBezTo>
                <a:lnTo>
                  <a:pt x="123453" y="18529"/>
                </a:lnTo>
                <a:cubicBezTo>
                  <a:pt x="128104" y="18231"/>
                  <a:pt x="132345" y="21282"/>
                  <a:pt x="133573" y="25784"/>
                </a:cubicBezTo>
                <a:lnTo>
                  <a:pt x="136178" y="35533"/>
                </a:lnTo>
                <a:cubicBezTo>
                  <a:pt x="137368" y="40035"/>
                  <a:pt x="135248" y="44797"/>
                  <a:pt x="131043" y="46881"/>
                </a:cubicBezTo>
                <a:lnTo>
                  <a:pt x="117016" y="53801"/>
                </a:lnTo>
                <a:cubicBezTo>
                  <a:pt x="116756" y="55699"/>
                  <a:pt x="116384" y="57596"/>
                  <a:pt x="115900" y="59457"/>
                </a:cubicBezTo>
                <a:cubicBezTo>
                  <a:pt x="115416" y="61317"/>
                  <a:pt x="114746" y="63178"/>
                  <a:pt x="114040" y="64926"/>
                </a:cubicBezTo>
                <a:lnTo>
                  <a:pt x="122709" y="77949"/>
                </a:lnTo>
                <a:cubicBezTo>
                  <a:pt x="125313" y="81855"/>
                  <a:pt x="124792" y="87027"/>
                  <a:pt x="121481" y="90339"/>
                </a:cubicBezTo>
                <a:lnTo>
                  <a:pt x="114337" y="97482"/>
                </a:lnTo>
                <a:cubicBezTo>
                  <a:pt x="111026" y="100794"/>
                  <a:pt x="105854" y="101315"/>
                  <a:pt x="101947" y="98710"/>
                </a:cubicBezTo>
                <a:lnTo>
                  <a:pt x="88925" y="90041"/>
                </a:lnTo>
                <a:cubicBezTo>
                  <a:pt x="85390" y="91492"/>
                  <a:pt x="81632" y="92534"/>
                  <a:pt x="77800" y="93055"/>
                </a:cubicBezTo>
                <a:lnTo>
                  <a:pt x="70879" y="107045"/>
                </a:lnTo>
                <a:cubicBezTo>
                  <a:pt x="68796" y="111249"/>
                  <a:pt x="64033" y="113370"/>
                  <a:pt x="59531" y="112179"/>
                </a:cubicBezTo>
                <a:lnTo>
                  <a:pt x="49783" y="109575"/>
                </a:lnTo>
                <a:cubicBezTo>
                  <a:pt x="45244" y="108347"/>
                  <a:pt x="42230" y="104105"/>
                  <a:pt x="42528" y="99454"/>
                </a:cubicBezTo>
                <a:lnTo>
                  <a:pt x="43532" y="83865"/>
                </a:lnTo>
                <a:cubicBezTo>
                  <a:pt x="40444" y="81483"/>
                  <a:pt x="37728" y="78730"/>
                  <a:pt x="35384" y="75679"/>
                </a:cubicBezTo>
                <a:lnTo>
                  <a:pt x="19757" y="76684"/>
                </a:lnTo>
                <a:cubicBezTo>
                  <a:pt x="15106" y="76981"/>
                  <a:pt x="10864" y="73930"/>
                  <a:pt x="9637" y="69428"/>
                </a:cubicBezTo>
                <a:lnTo>
                  <a:pt x="7032" y="59680"/>
                </a:lnTo>
                <a:cubicBezTo>
                  <a:pt x="5842" y="55178"/>
                  <a:pt x="7962" y="50416"/>
                  <a:pt x="12167" y="48332"/>
                </a:cubicBezTo>
                <a:lnTo>
                  <a:pt x="26194" y="41411"/>
                </a:lnTo>
                <a:cubicBezTo>
                  <a:pt x="26454" y="39514"/>
                  <a:pt x="26826" y="37654"/>
                  <a:pt x="27310" y="35756"/>
                </a:cubicBezTo>
                <a:cubicBezTo>
                  <a:pt x="27831" y="33858"/>
                  <a:pt x="28426" y="32035"/>
                  <a:pt x="29170" y="30287"/>
                </a:cubicBezTo>
                <a:lnTo>
                  <a:pt x="20501" y="17301"/>
                </a:lnTo>
                <a:cubicBezTo>
                  <a:pt x="17897" y="13395"/>
                  <a:pt x="18417" y="8223"/>
                  <a:pt x="21729" y="4911"/>
                </a:cubicBezTo>
                <a:lnTo>
                  <a:pt x="28873" y="-2232"/>
                </a:lnTo>
                <a:cubicBezTo>
                  <a:pt x="32184" y="-5544"/>
                  <a:pt x="37356" y="-6065"/>
                  <a:pt x="41263" y="-3460"/>
                </a:cubicBezTo>
                <a:lnTo>
                  <a:pt x="54285" y="5209"/>
                </a:lnTo>
                <a:cubicBezTo>
                  <a:pt x="57820" y="3758"/>
                  <a:pt x="61578" y="2716"/>
                  <a:pt x="65410" y="2195"/>
                </a:cubicBezTo>
                <a:lnTo>
                  <a:pt x="72330" y="-11795"/>
                </a:lnTo>
                <a:cubicBezTo>
                  <a:pt x="74414" y="-15999"/>
                  <a:pt x="79139" y="-18120"/>
                  <a:pt x="83679" y="-16929"/>
                </a:cubicBezTo>
                <a:close/>
                <a:moveTo>
                  <a:pt x="71586" y="31254"/>
                </a:moveTo>
                <a:cubicBezTo>
                  <a:pt x="62551" y="31254"/>
                  <a:pt x="55215" y="38590"/>
                  <a:pt x="55215" y="47625"/>
                </a:cubicBezTo>
                <a:cubicBezTo>
                  <a:pt x="55215" y="56660"/>
                  <a:pt x="62551" y="63996"/>
                  <a:pt x="71586" y="63996"/>
                </a:cubicBezTo>
                <a:cubicBezTo>
                  <a:pt x="80622" y="63996"/>
                  <a:pt x="87957" y="56660"/>
                  <a:pt x="87957" y="47625"/>
                </a:cubicBezTo>
                <a:cubicBezTo>
                  <a:pt x="87957" y="38590"/>
                  <a:pt x="80622" y="31254"/>
                  <a:pt x="71586" y="31254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4" name="Text 11"/>
          <p:cNvSpPr/>
          <p:nvPr/>
        </p:nvSpPr>
        <p:spPr>
          <a:xfrm>
            <a:off x="5886450" y="546973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工程落地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096125" y="55078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6" name="Text 13"/>
          <p:cNvSpPr/>
          <p:nvPr/>
        </p:nvSpPr>
        <p:spPr>
          <a:xfrm>
            <a:off x="7381875" y="546973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记忆传承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91550" y="5507831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38A3A5"/>
          </a:solidFill>
          <a:ln/>
        </p:spPr>
      </p:sp>
      <p:sp>
        <p:nvSpPr>
          <p:cNvPr id="18" name="Text 15"/>
          <p:cNvSpPr/>
          <p:nvPr/>
        </p:nvSpPr>
        <p:spPr>
          <a:xfrm>
            <a:off x="8877300" y="5469731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dirty="0">
                <a:solidFill>
                  <a:srgbClr val="E0E2E5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数据验证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我的 viding 飞轮</dc:title>
  <dc:subject>我的 viding 飞轮</dc:subject>
  <dc:creator>Kimi</dc:creator>
  <cp:lastModifiedBy>Kimi</cp:lastModifiedBy>
  <cp:revision>1</cp:revision>
  <dcterms:created xsi:type="dcterms:W3CDTF">2026-04-26T05:47:34Z</dcterms:created>
  <dcterms:modified xsi:type="dcterms:W3CDTF">2026-04-26T05:47:34Z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{"Label":"我的 viding 飞轮","ContentProducer":"001191110108MACG2KBH8F10000","ProduceID":"19dc84da-1692-835b-8000-000012c92c3a","ReservedCode1":"","ContentPropagator":"001191110108MACG2KBH8F20000","PropagateID":"19dc84da-1692-835b-8000-000012c92c3a","ReservedCode2":""}</vt:lpwstr>
  </property>
</Properties>
</file>